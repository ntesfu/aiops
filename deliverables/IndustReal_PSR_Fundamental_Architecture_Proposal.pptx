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46edc07762482a" /><Relationship Type="http://schemas.openxmlformats.org/officeDocument/2006/relationships/extended-properties" Target="/docProps/app.xml" Id="Rb57ab4bb01384394" /><Relationship Type="http://schemas.openxmlformats.org/officeDocument/2006/relationships/officeDocument" Target="/ppt/presentation.xml" Id="Rb3659cb862d943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795df799ca4554"/>
  </p:sldMasterIdLst>
  <p:notesMasterIdLst>
    <p:notesMasterId xmlns:r="http://schemas.openxmlformats.org/officeDocument/2006/relationships" r:id="R4b283d90f0694e1a"/>
  </p:notesMasterIdLst>
  <p:sldIdLst>
    <p:sldId xmlns:r="http://schemas.openxmlformats.org/officeDocument/2006/relationships" id="256" r:id="R28c46daab7eb46af"/>
    <p:sldId xmlns:r="http://schemas.openxmlformats.org/officeDocument/2006/relationships" id="257" r:id="R0156c324a7ea4645"/>
    <p:sldId xmlns:r="http://schemas.openxmlformats.org/officeDocument/2006/relationships" id="258" r:id="R83b1779208b14029"/>
    <p:sldId xmlns:r="http://schemas.openxmlformats.org/officeDocument/2006/relationships" id="259" r:id="Refddbb9d9d534f52"/>
    <p:sldId xmlns:r="http://schemas.openxmlformats.org/officeDocument/2006/relationships" id="260" r:id="R8e935f43afcb45c0"/>
    <p:sldId xmlns:r="http://schemas.openxmlformats.org/officeDocument/2006/relationships" id="261" r:id="R1467e795a5274ea3"/>
    <p:sldId xmlns:r="http://schemas.openxmlformats.org/officeDocument/2006/relationships" id="262" r:id="Re524df5663794d28"/>
    <p:sldId xmlns:r="http://schemas.openxmlformats.org/officeDocument/2006/relationships" id="263" r:id="Rd5680ae8a07a4380"/>
    <p:sldId xmlns:r="http://schemas.openxmlformats.org/officeDocument/2006/relationships" id="264" r:id="R277242663c5241d3"/>
    <p:sldId xmlns:r="http://schemas.openxmlformats.org/officeDocument/2006/relationships" id="265" r:id="Reb7dbd132b38496d"/>
    <p:sldId xmlns:r="http://schemas.openxmlformats.org/officeDocument/2006/relationships" id="266" r:id="R83526dc5638e4af4"/>
    <p:sldId xmlns:r="http://schemas.openxmlformats.org/officeDocument/2006/relationships" id="267" r:id="R562d8d73b9a1498d"/>
    <p:sldId xmlns:r="http://schemas.openxmlformats.org/officeDocument/2006/relationships" id="268" r:id="Rf826d2f12a3e46f8"/>
    <p:sldId xmlns:r="http://schemas.openxmlformats.org/officeDocument/2006/relationships" id="269" r:id="R0f69a4c25d254d07"/>
    <p:sldId xmlns:r="http://schemas.openxmlformats.org/officeDocument/2006/relationships" id="270" r:id="R7a715094b57a46cd"/>
    <p:sldId xmlns:r="http://schemas.openxmlformats.org/officeDocument/2006/relationships" id="271" r:id="R63be8a65d00b406e"/>
    <p:sldId xmlns:r="http://schemas.openxmlformats.org/officeDocument/2006/relationships" id="272" r:id="Ra68ea071dd1a4191"/>
    <p:sldId xmlns:r="http://schemas.openxmlformats.org/officeDocument/2006/relationships" id="273" r:id="Re39a0f90038d4e6d"/>
    <p:sldId xmlns:r="http://schemas.openxmlformats.org/officeDocument/2006/relationships" id="274" r:id="Rc1b8624c96cb47f2"/>
    <p:sldId xmlns:r="http://schemas.openxmlformats.org/officeDocument/2006/relationships" id="275" r:id="R297d3dde76944a4a"/>
    <p:sldId xmlns:r="http://schemas.openxmlformats.org/officeDocument/2006/relationships" id="276" r:id="Rdb007c0b3de34234"/>
    <p:sldId xmlns:r="http://schemas.openxmlformats.org/officeDocument/2006/relationships" id="277" r:id="Rd22d4afcaf2b4527"/>
    <p:sldId xmlns:r="http://schemas.openxmlformats.org/officeDocument/2006/relationships" id="278" r:id="Re5d27fec8e334034"/>
    <p:sldId xmlns:r="http://schemas.openxmlformats.org/officeDocument/2006/relationships" id="279" r:id="Rd902565e3f8d4365"/>
    <p:sldId xmlns:r="http://schemas.openxmlformats.org/officeDocument/2006/relationships" id="280" r:id="Reb72d09d92514958"/>
    <p:sldId xmlns:r="http://schemas.openxmlformats.org/officeDocument/2006/relationships" id="281" r:id="R00a16a83926a4b3f"/>
    <p:sldId xmlns:r="http://schemas.openxmlformats.org/officeDocument/2006/relationships" id="282" r:id="Rddfa22b415c747b7"/>
    <p:sldId xmlns:r="http://schemas.openxmlformats.org/officeDocument/2006/relationships" id="283" r:id="R69fc42d7f02f47d6"/>
    <p:sldId xmlns:r="http://schemas.openxmlformats.org/officeDocument/2006/relationships" id="284" r:id="R1e6a8ba52b1746e6"/>
    <p:sldId xmlns:r="http://schemas.openxmlformats.org/officeDocument/2006/relationships" id="285" r:id="Ra997b5fd241341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43e91e2d0d4d70" /><Relationship Type="http://schemas.openxmlformats.org/officeDocument/2006/relationships/slideMaster" Target="/ppt/slideMasters/slideMaster1.xml" Id="Ra0795df799ca4554" /><Relationship Type="http://schemas.openxmlformats.org/officeDocument/2006/relationships/notesMaster" Target="/ppt/notesMasters/notesMaster1.xml" Id="R4b283d90f0694e1a" /><Relationship Type="http://schemas.openxmlformats.org/officeDocument/2006/relationships/presProps" Target="/ppt/presProps.xml" Id="R462dcd83ab514e83" /><Relationship Type="http://schemas.openxmlformats.org/officeDocument/2006/relationships/viewProps" Target="/ppt/viewProps.xml" Id="R99c42bf1dd3648b3" /><Relationship Type="http://schemas.openxmlformats.org/officeDocument/2006/relationships/tableStyles" Target="/ppt/tableStyles.xml" Id="R7efc288e075e4e95" /><Relationship Type="http://schemas.openxmlformats.org/officeDocument/2006/relationships/slide" Target="/ppt/slides/slide1.xml" Id="R28c46daab7eb46af" /><Relationship Type="http://schemas.openxmlformats.org/officeDocument/2006/relationships/slide" Target="/ppt/slides/slide2.xml" Id="R0156c324a7ea4645" /><Relationship Type="http://schemas.openxmlformats.org/officeDocument/2006/relationships/slide" Target="/ppt/slides/slide3.xml" Id="R83b1779208b14029" /><Relationship Type="http://schemas.openxmlformats.org/officeDocument/2006/relationships/slide" Target="/ppt/slides/slide4.xml" Id="Refddbb9d9d534f52" /><Relationship Type="http://schemas.openxmlformats.org/officeDocument/2006/relationships/slide" Target="/ppt/slides/slide5.xml" Id="R8e935f43afcb45c0" /><Relationship Type="http://schemas.openxmlformats.org/officeDocument/2006/relationships/slide" Target="/ppt/slides/slide6.xml" Id="R1467e795a5274ea3" /><Relationship Type="http://schemas.openxmlformats.org/officeDocument/2006/relationships/slide" Target="/ppt/slides/slide7.xml" Id="Re524df5663794d28" /><Relationship Type="http://schemas.openxmlformats.org/officeDocument/2006/relationships/slide" Target="/ppt/slides/slide8.xml" Id="Rd5680ae8a07a4380" /><Relationship Type="http://schemas.openxmlformats.org/officeDocument/2006/relationships/slide" Target="/ppt/slides/slide9.xml" Id="R277242663c5241d3" /><Relationship Type="http://schemas.openxmlformats.org/officeDocument/2006/relationships/slide" Target="/ppt/slides/slide10.xml" Id="Reb7dbd132b38496d" /><Relationship Type="http://schemas.openxmlformats.org/officeDocument/2006/relationships/slide" Target="/ppt/slides/slide11.xml" Id="R83526dc5638e4af4" /><Relationship Type="http://schemas.openxmlformats.org/officeDocument/2006/relationships/slide" Target="/ppt/slides/slide12.xml" Id="R562d8d73b9a1498d" /><Relationship Type="http://schemas.openxmlformats.org/officeDocument/2006/relationships/slide" Target="/ppt/slides/slide13.xml" Id="Rf826d2f12a3e46f8" /><Relationship Type="http://schemas.openxmlformats.org/officeDocument/2006/relationships/slide" Target="/ppt/slides/slide14.xml" Id="R0f69a4c25d254d07" /><Relationship Type="http://schemas.openxmlformats.org/officeDocument/2006/relationships/slide" Target="/ppt/slides/slide15.xml" Id="R7a715094b57a46cd" /><Relationship Type="http://schemas.openxmlformats.org/officeDocument/2006/relationships/slide" Target="/ppt/slides/slide16.xml" Id="R63be8a65d00b406e" /><Relationship Type="http://schemas.openxmlformats.org/officeDocument/2006/relationships/slide" Target="/ppt/slides/slide17.xml" Id="Ra68ea071dd1a4191" /><Relationship Type="http://schemas.openxmlformats.org/officeDocument/2006/relationships/slide" Target="/ppt/slides/slide18.xml" Id="Re39a0f90038d4e6d" /><Relationship Type="http://schemas.openxmlformats.org/officeDocument/2006/relationships/slide" Target="/ppt/slides/slide19.xml" Id="Rc1b8624c96cb47f2" /><Relationship Type="http://schemas.openxmlformats.org/officeDocument/2006/relationships/slide" Target="/ppt/slides/slide20.xml" Id="R297d3dde76944a4a" /><Relationship Type="http://schemas.openxmlformats.org/officeDocument/2006/relationships/slide" Target="/ppt/slides/slide21.xml" Id="Rdb007c0b3de34234" /><Relationship Type="http://schemas.openxmlformats.org/officeDocument/2006/relationships/slide" Target="/ppt/slides/slide22.xml" Id="Rd22d4afcaf2b4527" /><Relationship Type="http://schemas.openxmlformats.org/officeDocument/2006/relationships/slide" Target="/ppt/slides/slide23.xml" Id="Re5d27fec8e334034" /><Relationship Type="http://schemas.openxmlformats.org/officeDocument/2006/relationships/slide" Target="/ppt/slides/slide24.xml" Id="Rd902565e3f8d4365" /><Relationship Type="http://schemas.openxmlformats.org/officeDocument/2006/relationships/slide" Target="/ppt/slides/slide25.xml" Id="Reb72d09d92514958" /><Relationship Type="http://schemas.openxmlformats.org/officeDocument/2006/relationships/slide" Target="/ppt/slides/slide26.xml" Id="R00a16a83926a4b3f" /><Relationship Type="http://schemas.openxmlformats.org/officeDocument/2006/relationships/slide" Target="/ppt/slides/slide27.xml" Id="Rddfa22b415c747b7" /><Relationship Type="http://schemas.openxmlformats.org/officeDocument/2006/relationships/slide" Target="/ppt/slides/slide28.xml" Id="R69fc42d7f02f47d6" /><Relationship Type="http://schemas.openxmlformats.org/officeDocument/2006/relationships/slide" Target="/ppt/slides/slide29.xml" Id="R1e6a8ba52b1746e6" /><Relationship Type="http://schemas.openxmlformats.org/officeDocument/2006/relationships/slide" Target="/ppt/slides/slide30.xml" Id="Ra997b5fd241341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6459363d5e47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67f6c5d36e4026" /><Relationship Type="http://schemas.openxmlformats.org/officeDocument/2006/relationships/notesMaster" Target="/ppt/notesMasters/notesMaster1.xml" Id="Racdbd06e65f14c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ca493bd6bd4b65" /><Relationship Type="http://schemas.openxmlformats.org/officeDocument/2006/relationships/notesMaster" Target="/ppt/notesMasters/notesMaster1.xml" Id="Rbfd1afee718340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5f3290132d463e" /><Relationship Type="http://schemas.openxmlformats.org/officeDocument/2006/relationships/notesMaster" Target="/ppt/notesMasters/notesMaster1.xml" Id="R8f0c4ab8ec0c4e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ea827ca2104fce" /><Relationship Type="http://schemas.openxmlformats.org/officeDocument/2006/relationships/notesMaster" Target="/ppt/notesMasters/notesMaster1.xml" Id="R5e6d2f03007540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66fa1567bd4953" /><Relationship Type="http://schemas.openxmlformats.org/officeDocument/2006/relationships/notesMaster" Target="/ppt/notesMasters/notesMaster1.xml" Id="R4a79d01b5d6e4f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a8481c28284405" /><Relationship Type="http://schemas.openxmlformats.org/officeDocument/2006/relationships/notesMaster" Target="/ppt/notesMasters/notesMaster1.xml" Id="Rf5b5596cd67f4b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d5eb1b049f4d30" /><Relationship Type="http://schemas.openxmlformats.org/officeDocument/2006/relationships/notesMaster" Target="/ppt/notesMasters/notesMaster1.xml" Id="Rc385ad2c871d42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b5444e745d481a" /><Relationship Type="http://schemas.openxmlformats.org/officeDocument/2006/relationships/notesMaster" Target="/ppt/notesMasters/notesMaster1.xml" Id="R4f629763ded34f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faa857d7a74eb4" /><Relationship Type="http://schemas.openxmlformats.org/officeDocument/2006/relationships/notesMaster" Target="/ppt/notesMasters/notesMaster1.xml" Id="R9d8aed570e0047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3b32b5662d40a2" /><Relationship Type="http://schemas.openxmlformats.org/officeDocument/2006/relationships/notesMaster" Target="/ppt/notesMasters/notesMaster1.xml" Id="R04f13e997c1c4b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89fda65d644b4c" /><Relationship Type="http://schemas.openxmlformats.org/officeDocument/2006/relationships/notesMaster" Target="/ppt/notesMasters/notesMaster1.xml" Id="Raadd637a4be741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563884cfd24be8" /><Relationship Type="http://schemas.openxmlformats.org/officeDocument/2006/relationships/notesMaster" Target="/ppt/notesMasters/notesMaster1.xml" Id="Ra6be1e2ce28e4f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211777c89d461b" /><Relationship Type="http://schemas.openxmlformats.org/officeDocument/2006/relationships/notesMaster" Target="/ppt/notesMasters/notesMaster1.xml" Id="R9edbaf76e62443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4cbc4fa89e412d" /><Relationship Type="http://schemas.openxmlformats.org/officeDocument/2006/relationships/notesMaster" Target="/ppt/notesMasters/notesMaster1.xml" Id="R1830300067a949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26d253bb3747b6" /><Relationship Type="http://schemas.openxmlformats.org/officeDocument/2006/relationships/notesMaster" Target="/ppt/notesMasters/notesMaster1.xml" Id="R49671fb0cd2442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c493287dfc4975" /><Relationship Type="http://schemas.openxmlformats.org/officeDocument/2006/relationships/notesMaster" Target="/ppt/notesMasters/notesMaster1.xml" Id="R35243210505745b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67ff5216e4741a5" /><Relationship Type="http://schemas.openxmlformats.org/officeDocument/2006/relationships/notesMaster" Target="/ppt/notesMasters/notesMaster1.xml" Id="Ra14999e6531347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cf3b5371f5400d" /><Relationship Type="http://schemas.openxmlformats.org/officeDocument/2006/relationships/notesMaster" Target="/ppt/notesMasters/notesMaster1.xml" Id="R608eb9085ca7493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1be9644e2034fc4" /><Relationship Type="http://schemas.openxmlformats.org/officeDocument/2006/relationships/notesMaster" Target="/ppt/notesMasters/notesMaster1.xml" Id="R46a663ce0d274f9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58e617fda6443f" /><Relationship Type="http://schemas.openxmlformats.org/officeDocument/2006/relationships/notesMaster" Target="/ppt/notesMasters/notesMaster1.xml" Id="R76e867618695426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7d76dfe48e74d1e" /><Relationship Type="http://schemas.openxmlformats.org/officeDocument/2006/relationships/notesMaster" Target="/ppt/notesMasters/notesMaster1.xml" Id="R919a42c08f8742e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435762ad9a743b4" /><Relationship Type="http://schemas.openxmlformats.org/officeDocument/2006/relationships/notesMaster" Target="/ppt/notesMasters/notesMaster1.xml" Id="R6bd8f952b3fb4a9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5cdfac78c1242ea" /><Relationship Type="http://schemas.openxmlformats.org/officeDocument/2006/relationships/notesMaster" Target="/ppt/notesMasters/notesMaster1.xml" Id="Rdc14ed5a623c42e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d397624a13f4402" /><Relationship Type="http://schemas.openxmlformats.org/officeDocument/2006/relationships/notesMaster" Target="/ppt/notesMasters/notesMaster1.xml" Id="Rbcea4ed716bf466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68fba3198964679" /><Relationship Type="http://schemas.openxmlformats.org/officeDocument/2006/relationships/notesMaster" Target="/ppt/notesMasters/notesMaster1.xml" Id="Rb9f7871c069b4a7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87b3b6327824b61" /><Relationship Type="http://schemas.openxmlformats.org/officeDocument/2006/relationships/notesMaster" Target="/ppt/notesMasters/notesMaster1.xml" Id="Rf5c73a3993fd441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c3ef11d5591472b" /><Relationship Type="http://schemas.openxmlformats.org/officeDocument/2006/relationships/notesMaster" Target="/ppt/notesMasters/notesMaster1.xml" Id="Rf5da4c9742854c0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ad21b337b164457" /><Relationship Type="http://schemas.openxmlformats.org/officeDocument/2006/relationships/notesMaster" Target="/ppt/notesMasters/notesMaster1.xml" Id="Rd20499f586c3491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670980463fd44aa" /><Relationship Type="http://schemas.openxmlformats.org/officeDocument/2006/relationships/notesMaster" Target="/ppt/notesMasters/notesMaster1.xml" Id="Redd4135e04d1432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69295ea031f4b43" /><Relationship Type="http://schemas.openxmlformats.org/officeDocument/2006/relationships/notesMaster" Target="/ppt/notesMasters/notesMaster1.xml" Id="Re4e9dedb5d684d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Title. The system does two things: temporal step segmentation and per-step compliance verification on egocentric assembly video. v2 is the current best offline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problem. Emphasize the small-data reality (36 recordings) up front — it explains the accuracy ceiling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Title. The system does two things: temporal step segmentation and per-step compliance verification on egocentric assembly video. v2 is the current best offline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problem. Emphasize the small-data reality (36 recordings) up front — it explains the accuracy ceiling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honest 'why accuracy is limited' slide. The single most important line is incorrect-install recall ~0% — it is an assembly-state problem, not a segmentation problem, and it motivates both the data-collection effort and the next-step encoder.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uploaded v2 diagram left to right. Key point: only the head (orange) is trained — the 1B backbone stays frozen, which is why the whole thing fine-tunes on a single 24 GB card. Viterbi is procedure-aware decoding; verification fuses the step and type heads.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the second encoder as the concrete next accuracy lever. Be precise that it is InternVideo2 (video encoder for features), not InternVL (chat VLM). Honest framing: complementary features, a modest gain, and it does not replace fixing the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Concrete I/O. The timeline is the step head; the </a:t>
            </a:r>
            <a:r>
              <a:rPr>
                <a:latin typeface="+mj-lt"/>
                <a:ea typeface="+mj-lt"/>
                <a:cs typeface="+mj-lt"/>
              </a:rPr>
              <a:t>✓</a:t>
            </a:r>
            <a:r>
              <a:t>/</a:t>
            </a:r>
            <a:r>
              <a:rPr>
                <a:latin typeface="+mj-lt"/>
                <a:ea typeface="+mj-lt"/>
                <a:cs typeface="+mj-lt"/>
              </a:rPr>
              <a:t>✗ </a:t>
            </a:r>
            <a:r>
              <a:t>column is the type head; the verdict fuses them. Note the example deliberately shows a caught 'incorrect' — that's the compliance value proposition, and also the exact thing that is weakest today (next slides).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the second encoder as the concrete next accuracy lever. Be precise that it is InternVideo2 (video encoder for features), not InternVL (chat VLM). Honest framing: complementary features, a modest gain, and it does not replace fixing the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the second encoder as the concrete next accuracy lever. Be precise that it is InternVideo2 (video encoder for features), not InternVL (chat VLM). Honest framing: complementary features, a modest gain, and it does not replace fixing the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Numbers are the measured test-split results. Lead with DiffAct++ as best offline. Note the real-time row honestly — the streaming gap is real and is a separate work item.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Numbers are the measured test-split results. Lead with DiffAct++ as best offline. Note the real-time row honestly — the streaming gap is real and is a separate work item.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roadmap. Two parallel tracks: the cheap model lever (InternVideo2 concat) and the real fix (data + assembly-state perception). Reinforce the 24 GB feasibility.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a068ff86446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0c2142e054873" /></Relationships>
</file>

<file path=ppt/slideLayouts/slideLayout1.xml><?xml version="1.0" encoding="utf-8"?>
<p:sldLayout xmlns:p="http://schemas.openxmlformats.org/presentationml/2006/main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B29978E-3DC3-4D0F-A0EE-59F7568307B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bed47c251e4cfb" /><Relationship Type="http://schemas.openxmlformats.org/officeDocument/2006/relationships/slideLayout" Target="/ppt/slideLayouts/slideLayout1.xml" Id="R72b965ed72b745f2" /><Relationship Type="http://schemas.openxmlformats.org/officeDocument/2006/relationships/slideLayout" Target="/ppt/slideLayouts/slideLayout2.xml" Id="Rcf17dbeac1b147c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Text">
            <a:extLst xmlns:a="http://schemas.openxmlformats.org/drawingml/2006/main">
              <a:ext uri="{FF2B5EF4-FFF2-40B4-BE49-F238E27FC236}">
                <a16:creationId xmlns:a16="http://schemas.microsoft.com/office/drawing/2014/main" id="{C7B5414D-F4AC-494E-B830-302732903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2074"/>
            <a:ext cx="10972800" cy="150812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r>
              <a:t>Title Text</a:t>
            </a:r>
          </a:p>
        </p:txBody>
      </p:sp>
      <p:sp>
        <p:nvSpPr>
          <p:cNvPr id="3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EC6AEAF8-E2EE-433A-9E66-738051D60D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0"/>
            <a:ext cx="10972800" cy="5257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r>
              <a:t>Body Level One</a:t>
            </a:r>
          </a:p>
          <a:p xmlns:a="http://schemas.openxmlformats.org/drawingml/2006/main">
            <a:pPr>
              <a:buNone/>
            </a:pPr>
            <a:r>
              <a:t>Body Level Two</a:t>
            </a:r>
          </a:p>
          <a:p xmlns:a="http://schemas.openxmlformats.org/drawingml/2006/main">
            <a:pPr>
              <a:buNone/>
            </a:pPr>
            <a:r>
              <a:t>Body Level Three</a:t>
            </a:r>
          </a:p>
          <a:p xmlns:a="http://schemas.openxmlformats.org/drawingml/2006/main">
            <a:pPr>
              <a:buNone/>
            </a:pPr>
            <a:r>
              <a:t>Body Level Four</a:t>
            </a:r>
          </a:p>
          <a:p xmlns:a="http://schemas.openxmlformats.org/drawingml/2006/main">
            <a:pPr>
              <a:buNone/>
            </a:pPr>
            <a:r>
              <a:t>Body Level Five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ED7511-86D0-4993-8DFA-2CE44B512E4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5892800" y="6172200"/>
            <a:ext cx="2844800" cy="3683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 sz="1200"/>
            </a:lvl1pPr>
          </a:lstStyle>
          <a:p xmlns:a="http://schemas.openxmlformats.org/drawingml/2006/main">
            <a:fld id="{86CB4B4D-7CA3-9044-876B-883B54F8677D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b965ed72b745f2"/>
    <p:sldLayoutId xmlns:r="http://schemas.openxmlformats.org/officeDocument/2006/relationships" id="2147483650" r:id="Rcf17dbeac1b147c3"/>
  </p:sldLayoutIdLst>
  <p:txStyles>
    <p:titleStyle>
      <a:lvl1pPr xmlns:a="http://schemas.openxmlformats.org/drawingml/2006/main" marL="0" indent="0" algn="ctr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1pPr>
      <a:lvl2pPr xmlns:a="http://schemas.openxmlformats.org/drawingml/2006/main" marL="0" indent="0" algn="ctr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marL="0" indent="0" algn="ctr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marL="0" indent="0" algn="ctr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marL="0" indent="0" algn="ctr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0" indent="0" algn="ctr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0" indent="0" algn="ctr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0" indent="0" algn="ctr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0" indent="0" algn="ctr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342900" indent="-342900" algn="l">
        <a:lnSpc>
          <a:spcPct val="100000"/>
        </a:lnSpc>
        <a:spcBef>
          <a:spcPts val="700"/>
        </a:spcBef>
        <a:spcAft>
          <a:spcPts val="0"/>
        </a:spcAft>
        <a:buChar char="•"/>
        <a:defRPr sz="3200" b="0" i="0" u="none" cap="none" spc="0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L="783771" indent="-326571" algn="l">
        <a:lnSpc>
          <a:spcPct val="100000"/>
        </a:lnSpc>
        <a:spcBef>
          <a:spcPts val="700"/>
        </a:spcBef>
        <a:spcAft>
          <a:spcPts val="0"/>
        </a:spcAft>
        <a:buChar char="–"/>
        <a:defRPr sz="3200" b="0" i="0" u="none" cap="none" spc="0">
          <a:solidFill>
            <a:srgbClr val="000000"/>
          </a:solidFill>
          <a:latin typeface="+mn-lt"/>
          <a:ea typeface="+mn-lt"/>
          <a:cs typeface="+mn-lt"/>
        </a:defRPr>
      </a:lvl2pPr>
      <a:lvl3pPr xmlns:a="http://schemas.openxmlformats.org/drawingml/2006/main" marL="1219200" indent="-304800" algn="l">
        <a:lnSpc>
          <a:spcPct val="100000"/>
        </a:lnSpc>
        <a:spcBef>
          <a:spcPts val="700"/>
        </a:spcBef>
        <a:spcAft>
          <a:spcPts val="0"/>
        </a:spcAft>
        <a:buChar char="•"/>
        <a:defRPr sz="3200" b="0" i="0" u="none" cap="none" spc="0">
          <a:solidFill>
            <a:srgbClr val="000000"/>
          </a:solidFill>
          <a:latin typeface="+mn-lt"/>
          <a:ea typeface="+mn-lt"/>
          <a:cs typeface="+mn-lt"/>
        </a:defRPr>
      </a:lvl3pPr>
      <a:lvl4pPr xmlns:a="http://schemas.openxmlformats.org/drawingml/2006/main" marL="1737360" indent="-365760" algn="l">
        <a:lnSpc>
          <a:spcPct val="100000"/>
        </a:lnSpc>
        <a:spcBef>
          <a:spcPts val="700"/>
        </a:spcBef>
        <a:spcAft>
          <a:spcPts val="0"/>
        </a:spcAft>
        <a:buChar char="–"/>
        <a:defRPr sz="3200" b="0" i="0" u="none" cap="none" spc="0">
          <a:solidFill>
            <a:srgbClr val="000000"/>
          </a:solidFill>
          <a:latin typeface="+mn-lt"/>
          <a:ea typeface="+mn-lt"/>
          <a:cs typeface="+mn-lt"/>
        </a:defRPr>
      </a:lvl4pPr>
      <a:lvl5pPr xmlns:a="http://schemas.openxmlformats.org/drawingml/2006/main" marL="2194560" indent="-365760" algn="l">
        <a:lnSpc>
          <a:spcPct val="100000"/>
        </a:lnSpc>
        <a:spcBef>
          <a:spcPts val="700"/>
        </a:spcBef>
        <a:spcAft>
          <a:spcPts val="0"/>
        </a:spcAft>
        <a:buChar char="»"/>
        <a:defRPr sz="3200" b="0" i="0" u="none" cap="none" spc="0">
          <a:solidFill>
            <a:srgbClr val="000000"/>
          </a:solidFill>
          <a:latin typeface="+mn-lt"/>
          <a:ea typeface="+mn-lt"/>
          <a:cs typeface="+mn-lt"/>
        </a:defRPr>
      </a:lvl5pPr>
      <a:lvl6pPr xmlns:a="http://schemas.openxmlformats.org/drawingml/2006/main" marL="2651760" indent="-365760" algn="l">
        <a:lnSpc>
          <a:spcPct val="100000"/>
        </a:lnSpc>
        <a:spcBef>
          <a:spcPts val="700"/>
        </a:spcBef>
        <a:spcAft>
          <a:spcPts val="0"/>
        </a:spcAft>
        <a:buChar char="•"/>
        <a:defRPr sz="3200" b="0" i="0" u="none" cap="none" spc="0">
          <a:solidFill>
            <a:srgbClr val="000000"/>
          </a:solidFill>
          <a:latin typeface="+mn-lt"/>
          <a:ea typeface="+mn-lt"/>
          <a:cs typeface="+mn-lt"/>
        </a:defRPr>
      </a:lvl6pPr>
      <a:lvl7pPr xmlns:a="http://schemas.openxmlformats.org/drawingml/2006/main" marL="3108960" indent="-365760" algn="l">
        <a:lnSpc>
          <a:spcPct val="100000"/>
        </a:lnSpc>
        <a:spcBef>
          <a:spcPts val="700"/>
        </a:spcBef>
        <a:spcAft>
          <a:spcPts val="0"/>
        </a:spcAft>
        <a:buChar char="•"/>
        <a:defRPr sz="3200" b="0" i="0" u="none" cap="none" spc="0">
          <a:solidFill>
            <a:srgbClr val="000000"/>
          </a:solidFill>
          <a:latin typeface="+mn-lt"/>
          <a:ea typeface="+mn-lt"/>
          <a:cs typeface="+mn-lt"/>
        </a:defRPr>
      </a:lvl7pPr>
      <a:lvl8pPr xmlns:a="http://schemas.openxmlformats.org/drawingml/2006/main" marL="3566159" indent="-365759" algn="l">
        <a:lnSpc>
          <a:spcPct val="100000"/>
        </a:lnSpc>
        <a:spcBef>
          <a:spcPts val="700"/>
        </a:spcBef>
        <a:spcAft>
          <a:spcPts val="0"/>
        </a:spcAft>
        <a:buChar char="•"/>
        <a:defRPr sz="3200" b="0" i="0" u="none" cap="none" spc="0">
          <a:solidFill>
            <a:srgbClr val="000000"/>
          </a:solidFill>
          <a:latin typeface="+mn-lt"/>
          <a:ea typeface="+mn-lt"/>
          <a:cs typeface="+mn-lt"/>
        </a:defRPr>
      </a:lvl8pPr>
      <a:lvl9pPr xmlns:a="http://schemas.openxmlformats.org/drawingml/2006/main" marL="4023359" indent="-365759" algn="l">
        <a:lnSpc>
          <a:spcPct val="100000"/>
        </a:lnSpc>
        <a:spcBef>
          <a:spcPts val="700"/>
        </a:spcBef>
        <a:spcAft>
          <a:spcPts val="0"/>
        </a:spcAft>
        <a:buChar char="•"/>
        <a:defRPr sz="3200" b="0" i="0" u="none" cap="none" spc="0">
          <a:solidFill>
            <a:srgbClr val="000000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indent="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indent="4572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indent="9144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indent="13716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indent="18288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22860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27432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32004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36576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267aaa2ec4e5c" /><Relationship Type="http://schemas.openxmlformats.org/officeDocument/2006/relationships/notesSlide" Target="/ppt/notesSlides/notesSlide1.xml" Id="R13e3a90436d544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7607ecb6d4b66" /><Relationship Type="http://schemas.openxmlformats.org/officeDocument/2006/relationships/notesSlide" Target="/ppt/notesSlides/notesSlide2.xml" Id="Rfb7e1721130740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94d15f32d45a3" /><Relationship Type="http://schemas.openxmlformats.org/officeDocument/2006/relationships/image" Target="/ppt/media/image.png" Id="R8501d04f4e5d4636" /><Relationship Type="http://schemas.openxmlformats.org/officeDocument/2006/relationships/notesSlide" Target="/ppt/notesSlides/notesSlide3.xml" Id="Ra0d1f1c4627146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9212e43dd42e6" /><Relationship Type="http://schemas.openxmlformats.org/officeDocument/2006/relationships/image" Target="/ppt/media/image.gif" Id="R5b91f6651765446c" /><Relationship Type="http://schemas.openxmlformats.org/officeDocument/2006/relationships/image" Target="/ppt/media/image.svg" Id="R2072f70a9c73409e" /><Relationship Type="http://schemas.openxmlformats.org/officeDocument/2006/relationships/notesSlide" Target="/ppt/notesSlides/notesSlide4.xml" Id="R06eba9aa325c41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dc6b7018c461f" /><Relationship Type="http://schemas.openxmlformats.org/officeDocument/2006/relationships/image" Target="/ppt/media/image.jpeg" Id="R41abe3fdae714d3d" /><Relationship Type="http://schemas.openxmlformats.org/officeDocument/2006/relationships/image" Target="/ppt/media/image2.jpeg" Id="Ra11855649b164ed7" /><Relationship Type="http://schemas.openxmlformats.org/officeDocument/2006/relationships/notesSlide" Target="/ppt/notesSlides/notesSlide5.xml" Id="R7f45eb9a879744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e3486b6a7497d" /><Relationship Type="http://schemas.openxmlformats.org/officeDocument/2006/relationships/image" Target="/ppt/media/image3.jpeg" Id="Rb1eb6339c2b24c8c" /><Relationship Type="http://schemas.openxmlformats.org/officeDocument/2006/relationships/image" Target="/ppt/media/image2.png" Id="Rd08e9cf991534c84" /><Relationship Type="http://schemas.openxmlformats.org/officeDocument/2006/relationships/image" Target="/ppt/media/image3.png" Id="Raedd4c6c679b4786" /><Relationship Type="http://schemas.openxmlformats.org/officeDocument/2006/relationships/notesSlide" Target="/ppt/notesSlides/notesSlide6.xml" Id="R9cbbbce8f2a345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b0ffc6ffc4537" /><Relationship Type="http://schemas.openxmlformats.org/officeDocument/2006/relationships/image" Target="/ppt/media/image.gif" Id="Rd58b4fbdd22a4eed" /><Relationship Type="http://schemas.openxmlformats.org/officeDocument/2006/relationships/notesSlide" Target="/ppt/notesSlides/notesSlide7.xml" Id="R7ca3e4875bdc44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d2c9faf91a40ee" /><Relationship Type="http://schemas.openxmlformats.org/officeDocument/2006/relationships/image" Target="/ppt/media/image4.png" Id="Rbcac7fae9329449d" /><Relationship Type="http://schemas.openxmlformats.org/officeDocument/2006/relationships/image" Target="/ppt/media/image2.svg" Id="Rbf03089b313e4656" /><Relationship Type="http://schemas.openxmlformats.org/officeDocument/2006/relationships/image" Target="/ppt/media/image5.png" Id="R8c9dbb7de98b464b" /><Relationship Type="http://schemas.openxmlformats.org/officeDocument/2006/relationships/image" Target="/ppt/media/image3.svg" Id="R51482f0b01664e9e" /><Relationship Type="http://schemas.openxmlformats.org/officeDocument/2006/relationships/image" Target="/ppt/media/image6.png" Id="R0c7ee358a70b40c3" /><Relationship Type="http://schemas.openxmlformats.org/officeDocument/2006/relationships/image" Target="/ppt/media/image4.svg" Id="R3fee572ca3ed49a3" /><Relationship Type="http://schemas.openxmlformats.org/officeDocument/2006/relationships/notesSlide" Target="/ppt/notesSlides/notesSlide8.xml" Id="Rbef16244e0cc48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6d2afe7d7b477d" /><Relationship Type="http://schemas.openxmlformats.org/officeDocument/2006/relationships/notesSlide" Target="/ppt/notesSlides/notesSlide9.xml" Id="R78bed9501cb54a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fe065633364666" /><Relationship Type="http://schemas.openxmlformats.org/officeDocument/2006/relationships/image" Target="/ppt/media/image4.jpeg" Id="Rdb086520dfc24843" /><Relationship Type="http://schemas.openxmlformats.org/officeDocument/2006/relationships/image" Target="/ppt/media/image4.png" Id="R5dca9e14bb474b0b" /><Relationship Type="http://schemas.openxmlformats.org/officeDocument/2006/relationships/image" Target="/ppt/media/image2.svg" Id="Rce523e3724fa4345" /><Relationship Type="http://schemas.openxmlformats.org/officeDocument/2006/relationships/image" Target="/ppt/media/image5.jpeg" Id="Rc3dcb21c345a4bee" /><Relationship Type="http://schemas.openxmlformats.org/officeDocument/2006/relationships/image" Target="/ppt/media/image6.jpeg" Id="R59d56b1c6d6e4aa3" /><Relationship Type="http://schemas.openxmlformats.org/officeDocument/2006/relationships/image" Target="/ppt/media/image7.jpeg" Id="R757e4149ca8a4559" /><Relationship Type="http://schemas.openxmlformats.org/officeDocument/2006/relationships/image" Target="/ppt/media/image5.png" Id="R05cd2450e8be45b3" /><Relationship Type="http://schemas.openxmlformats.org/officeDocument/2006/relationships/image" Target="/ppt/media/image3.svg" Id="Rb6df1dc8c2a0478c" /><Relationship Type="http://schemas.openxmlformats.org/officeDocument/2006/relationships/image" Target="/ppt/media/image8.jpeg" Id="Rc4928a62104a4162" /><Relationship Type="http://schemas.openxmlformats.org/officeDocument/2006/relationships/image" Target="/ppt/media/image9.jpeg" Id="Rfffd29f5a46848b6" /><Relationship Type="http://schemas.openxmlformats.org/officeDocument/2006/relationships/notesSlide" Target="/ppt/notesSlides/notesSlide10.xml" Id="Re924c013b91c4a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7d778a16b4323" /><Relationship Type="http://schemas.openxmlformats.org/officeDocument/2006/relationships/notesSlide" Target="/ppt/notesSlides/notesSlide11.xml" Id="R562d5d77890d4a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1030f164a4677" /><Relationship Type="http://schemas.openxmlformats.org/officeDocument/2006/relationships/notesSlide" Target="/ppt/notesSlides/notesSlide12.xml" Id="Rec70a1cffb5842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1f0d9650c4269" /><Relationship Type="http://schemas.openxmlformats.org/officeDocument/2006/relationships/notesSlide" Target="/ppt/notesSlides/notesSlide13.xml" Id="R87200c4f78c84e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547b7d17340cc" /><Relationship Type="http://schemas.openxmlformats.org/officeDocument/2006/relationships/image" Target="/ppt/media/image.gif" Id="R5a7ee7bfb7ca49aa" /><Relationship Type="http://schemas.openxmlformats.org/officeDocument/2006/relationships/image" Target="/ppt/media/image.svg" Id="Rdb8aa5ebea914b55" /><Relationship Type="http://schemas.openxmlformats.org/officeDocument/2006/relationships/image" Target="/ppt/media/image7.png" Id="R6423ce373f164d73" /><Relationship Type="http://schemas.openxmlformats.org/officeDocument/2006/relationships/image" Target="/ppt/media/image5.svg" Id="Rdeb0bec4d7034fcf" /><Relationship Type="http://schemas.openxmlformats.org/officeDocument/2006/relationships/notesSlide" Target="/ppt/notesSlides/notesSlide14.xml" Id="R93e9fd4956e14d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51ea3e2ad44c3" /><Relationship Type="http://schemas.openxmlformats.org/officeDocument/2006/relationships/image" Target="/ppt/media/image8.png" Id="Rfd4d51a584134fd9" /><Relationship Type="http://schemas.openxmlformats.org/officeDocument/2006/relationships/notesSlide" Target="/ppt/notesSlides/notesSlide15.xml" Id="R02357e5abd7a4b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be77f13af4f92" /><Relationship Type="http://schemas.openxmlformats.org/officeDocument/2006/relationships/image" Target="/ppt/media/image.gif" Id="R984b63a080b443a7" /><Relationship Type="http://schemas.openxmlformats.org/officeDocument/2006/relationships/image" Target="/ppt/media/image.svg" Id="Re4a96452137d4fa7" /><Relationship Type="http://schemas.openxmlformats.org/officeDocument/2006/relationships/image" Target="/ppt/media/image9.png" Id="R1d0dbe0c310040a5" /><Relationship Type="http://schemas.openxmlformats.org/officeDocument/2006/relationships/image" Target="/ppt/media/image6.svg" Id="Rda42613c441b4c03" /><Relationship Type="http://schemas.openxmlformats.org/officeDocument/2006/relationships/notesSlide" Target="/ppt/notesSlides/notesSlide16.xml" Id="R36ce2c4616f84f9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582683c3b4ea5" /><Relationship Type="http://schemas.openxmlformats.org/officeDocument/2006/relationships/image" Target="/ppt/media/image10.png" Id="R50745f6597f04e69" /><Relationship Type="http://schemas.openxmlformats.org/officeDocument/2006/relationships/image" Target="/ppt/media/image7.svg" Id="Rd8e74f2730844740" /><Relationship Type="http://schemas.openxmlformats.org/officeDocument/2006/relationships/image" Target="/ppt/media/image11.png" Id="Rf2c7eb68b46240b8" /><Relationship Type="http://schemas.openxmlformats.org/officeDocument/2006/relationships/notesSlide" Target="/ppt/notesSlides/notesSlide17.xml" Id="R4ebbb8f023074a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eb3309cee3428c" /><Relationship Type="http://schemas.openxmlformats.org/officeDocument/2006/relationships/image" Target="/ppt/media/image4.png" Id="R2df89910c57c48c2" /><Relationship Type="http://schemas.openxmlformats.org/officeDocument/2006/relationships/image" Target="/ppt/media/image2.svg" Id="R82f534a9e10e4558" /><Relationship Type="http://schemas.openxmlformats.org/officeDocument/2006/relationships/image" Target="/ppt/media/image5.png" Id="R225bb5273697481f" /><Relationship Type="http://schemas.openxmlformats.org/officeDocument/2006/relationships/image" Target="/ppt/media/image3.svg" Id="R90814f39e0d74646" /><Relationship Type="http://schemas.openxmlformats.org/officeDocument/2006/relationships/image" Target="/ppt/media/image6.png" Id="Ra82a1b14169e4d75" /><Relationship Type="http://schemas.openxmlformats.org/officeDocument/2006/relationships/image" Target="/ppt/media/image4.svg" Id="Re0811131dad24537" /><Relationship Type="http://schemas.openxmlformats.org/officeDocument/2006/relationships/notesSlide" Target="/ppt/notesSlides/notesSlide18.xml" Id="R20264e6be441428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ee44faf9e8454a" /><Relationship Type="http://schemas.openxmlformats.org/officeDocument/2006/relationships/notesSlide" Target="/ppt/notesSlides/notesSlide19.xml" Id="Re685626032864c0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d7c2705c28491d" /><Relationship Type="http://schemas.openxmlformats.org/officeDocument/2006/relationships/notesSlide" Target="/ppt/notesSlides/notesSlide20.xml" Id="Rcf8432e509cd491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a21db869f40f0" /><Relationship Type="http://schemas.openxmlformats.org/officeDocument/2006/relationships/notesSlide" Target="/ppt/notesSlides/notesSlide21.xml" Id="R48db32ae1c124c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929b4a8104480" /><Relationship Type="http://schemas.openxmlformats.org/officeDocument/2006/relationships/image" Target="/ppt/media/image.gif" Id="Re04c9fe973a945a7" /><Relationship Type="http://schemas.openxmlformats.org/officeDocument/2006/relationships/image" Target="/ppt/media/image.svg" Id="R40607d8908884b7f" /><Relationship Type="http://schemas.openxmlformats.org/officeDocument/2006/relationships/image" Target="/ppt/media/image12.png" Id="R451b89b8928644df" /><Relationship Type="http://schemas.openxmlformats.org/officeDocument/2006/relationships/image" Target="/ppt/media/image8.svg" Id="Rd620514661574304" /><Relationship Type="http://schemas.openxmlformats.org/officeDocument/2006/relationships/notesSlide" Target="/ppt/notesSlides/notesSlide22.xml" Id="R360c49ee90844a2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e4d6ec8564cbf" /><Relationship Type="http://schemas.openxmlformats.org/officeDocument/2006/relationships/image" Target="/ppt/media/image10.png" Id="R470991634a6b4a4c" /><Relationship Type="http://schemas.openxmlformats.org/officeDocument/2006/relationships/image" Target="/ppt/media/image7.svg" Id="R52f26b9e2f2b4d18" /><Relationship Type="http://schemas.openxmlformats.org/officeDocument/2006/relationships/image" Target="/ppt/media/image13.png" Id="Rccb2ea16f7d84201" /><Relationship Type="http://schemas.openxmlformats.org/officeDocument/2006/relationships/image" Target="/ppt/media/image9.svg" Id="R68659ecc872a4d89" /><Relationship Type="http://schemas.openxmlformats.org/officeDocument/2006/relationships/notesSlide" Target="/ppt/notesSlides/notesSlide23.xml" Id="R3fa63cd2c1eb4fe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e31ad49a44b4d" /><Relationship Type="http://schemas.openxmlformats.org/officeDocument/2006/relationships/image" Target="/ppt/media/image.gif" Id="R2bde4774c18349a7" /><Relationship Type="http://schemas.openxmlformats.org/officeDocument/2006/relationships/image" Target="/ppt/media/image.svg" Id="Re8f63dd3991c477c" /><Relationship Type="http://schemas.openxmlformats.org/officeDocument/2006/relationships/image" Target="/ppt/media/image14.png" Id="Rc84572c0cd07458b" /><Relationship Type="http://schemas.openxmlformats.org/officeDocument/2006/relationships/image" Target="/ppt/media/image10.svg" Id="Rca717862088342aa" /><Relationship Type="http://schemas.openxmlformats.org/officeDocument/2006/relationships/notesSlide" Target="/ppt/notesSlides/notesSlide24.xml" Id="R509101d70f2a40c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cb476330146d0" /><Relationship Type="http://schemas.openxmlformats.org/officeDocument/2006/relationships/image" Target="/ppt/media/image10.png" Id="R3019e331c2d446cd" /><Relationship Type="http://schemas.openxmlformats.org/officeDocument/2006/relationships/image" Target="/ppt/media/image7.svg" Id="R5d4674d0d1ba4483" /><Relationship Type="http://schemas.openxmlformats.org/officeDocument/2006/relationships/image" Target="/ppt/media/image15.png" Id="R46a37d7e200f4d34" /><Relationship Type="http://schemas.openxmlformats.org/officeDocument/2006/relationships/image" Target="/ppt/media/image11.svg" Id="Rced2bf32a9604bcc" /><Relationship Type="http://schemas.openxmlformats.org/officeDocument/2006/relationships/notesSlide" Target="/ppt/notesSlides/notesSlide25.xml" Id="R26261204570e42c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8e0fc641d48b5" /><Relationship Type="http://schemas.openxmlformats.org/officeDocument/2006/relationships/notesSlide" Target="/ppt/notesSlides/notesSlide26.xml" Id="R2679e2429a0540f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35b3515424cd1" /><Relationship Type="http://schemas.openxmlformats.org/officeDocument/2006/relationships/notesSlide" Target="/ppt/notesSlides/notesSlide27.xml" Id="R0ccd594ac8d7488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dfc40351c41e5" /><Relationship Type="http://schemas.openxmlformats.org/officeDocument/2006/relationships/image" Target="/ppt/media/image.gif" Id="R557b45ba9a354852" /><Relationship Type="http://schemas.openxmlformats.org/officeDocument/2006/relationships/image" Target="/ppt/media/image.svg" Id="R4d49ac496878487d" /><Relationship Type="http://schemas.openxmlformats.org/officeDocument/2006/relationships/image" Target="/ppt/media/image16.png" Id="R18f28e5f022f4db3" /><Relationship Type="http://schemas.openxmlformats.org/officeDocument/2006/relationships/image" Target="/ppt/media/image12.svg" Id="R1402d6132ab4415f" /><Relationship Type="http://schemas.openxmlformats.org/officeDocument/2006/relationships/notesSlide" Target="/ppt/notesSlides/notesSlide28.xml" Id="Rc83d52ab860047d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8724d5b904e4f" /><Relationship Type="http://schemas.openxmlformats.org/officeDocument/2006/relationships/notesSlide" Target="/ppt/notesSlides/notesSlide29.xml" Id="Re47a2a28d9b04f7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8287c1c12042fc" /><Relationship Type="http://schemas.openxmlformats.org/officeDocument/2006/relationships/notesSlide" Target="/ppt/notesSlides/notesSlide30.xml" Id="R169d9116ad2444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0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 9">
            <a:extLst xmlns:a="http://schemas.openxmlformats.org/drawingml/2006/main">
              <a:ext uri="{FF2B5EF4-FFF2-40B4-BE49-F238E27FC236}">
                <a16:creationId xmlns:a16="http://schemas.microsoft.com/office/drawing/2014/main" id="{98B58B1B-8176-049F-CF79-286DDE09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853" y="1714860"/>
            <a:ext cx="9221587" cy="64325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4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AIOps Build and Assembly Project </a:t>
            </a:r>
          </a:p>
        </p:txBody>
      </p:sp>
      <p:sp>
        <p:nvSpPr>
          <p:cNvPr id="32" name="Text 12">
            <a:extLst xmlns:a="http://schemas.openxmlformats.org/drawingml/2006/main">
              <a:ext uri="{FF2B5EF4-FFF2-40B4-BE49-F238E27FC236}">
                <a16:creationId xmlns:a16="http://schemas.microsoft.com/office/drawing/2014/main" id="{75F5F14A-E4EC-0307-49F2-98AD75A0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30" y="3719838"/>
            <a:ext cx="6858001" cy="246221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7E93A5"/>
                </a:solidFill>
              </a:defRPr>
            </a:lvl1pPr>
          </a:lstStyle>
          <a:p xmlns:a="http://schemas.openxmlformats.org/drawingml/2006/main">
            <a:r>
              <a:rPr sz="2000"/>
              <a:t>Lead: </a:t>
            </a:r>
            <a:r>
              <a:rPr sz="2000" b="1"/>
              <a:t>   Sana</a:t>
            </a:r>
            <a:r>
              <a:rPr sz="2000" b="1"/>
              <a:t> </a:t>
            </a:r>
            <a:r>
              <a:rPr sz="2000" b="1"/>
              <a:t>Hafez</a:t>
            </a:r>
          </a:p>
          <a:p xmlns:a="http://schemas.openxmlformats.org/drawingml/2006/main"/>
          <a:p xmlns:a="http://schemas.openxmlformats.org/drawingml/2006/main">
            <a:r>
              <a:rPr sz="2000"/>
              <a:t>Interns: </a:t>
            </a:r>
            <a:r>
              <a:rPr sz="2000" b="1"/>
              <a:t>   Nahom</a:t>
            </a:r>
            <a:r>
              <a:rPr sz="2000" b="1"/>
              <a:t> </a:t>
            </a:r>
            <a:r>
              <a:rPr sz="2000" b="1"/>
              <a:t>Tesfu</a:t>
            </a:r>
          </a:p>
          <a:p xmlns:a="http://schemas.openxmlformats.org/drawingml/2006/main">
            <a:r>
              <a:rPr sz="2000"/>
              <a:t>    </a:t>
            </a:r>
            <a:r>
              <a:rPr sz="2000" b="1"/>
              <a:t>Dhyey </a:t>
            </a:r>
            <a:r>
              <a:rPr sz="2000" b="1"/>
              <a:t>Vank</a:t>
            </a:r>
          </a:p>
          <a:p xmlns:a="http://schemas.openxmlformats.org/drawingml/2006/main">
            <a:r>
              <a:rPr sz="2000" b="1"/>
              <a:t>    Ketan</a:t>
            </a:r>
            <a:r>
              <a:rPr sz="2000" b="1"/>
              <a:t> More</a:t>
            </a:r>
          </a:p>
          <a:p xmlns:a="http://schemas.openxmlformats.org/drawingml/2006/main"/>
          <a:p xmlns:a="http://schemas.openxmlformats.org/drawingml/2006/main">
            <a:r>
              <a:rPr sz="2000"/>
              <a:t>Mentors:  </a:t>
            </a:r>
            <a:r>
              <a:rPr sz="2000" b="1"/>
              <a:t>Njock II, Jean-Pierre</a:t>
            </a:r>
          </a:p>
          <a:p xmlns:a="http://schemas.openxmlformats.org/drawingml/2006/main">
            <a:r>
              <a:rPr sz="2000" b="1"/>
              <a:t>     Modjeski, Andrew T</a:t>
            </a:r>
          </a:p>
        </p:txBody>
      </p:sp>
    </p:spTree>
    <p:extLst>
      <p:ext uri="{BB962C8B-B14F-4D97-AF65-F5344CB8AC3E}">
        <p14:creationId xmlns:p14="http://schemas.microsoft.com/office/powerpoint/2010/main" val="430791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07BF542-436E-BAAC-B6EA-0FDD6113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Freeform: Shape 9">
            <a:extLst xmlns:a="http://schemas.openxmlformats.org/drawingml/2006/main">
              <a:ext uri="{FF2B5EF4-FFF2-40B4-BE49-F238E27FC236}">
                <a16:creationId xmlns:a16="http://schemas.microsoft.com/office/drawing/2014/main" id="{493E2662-A7D4-DC3F-3E0F-90D00CF9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 flipH="1">
            <a:off x="-376156" y="-253670"/>
            <a:ext cx="1827638" cy="1376989"/>
          </a:xfrm>
          <a:custGeom xmlns:a="http://schemas.openxmlformats.org/drawingml/2006/main"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678AE6D-FA53-AABC-665A-BA723ACB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 flipH="1">
            <a:off x="891641" y="422146"/>
            <a:ext cx="645368" cy="64536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1B088C4-E743-BA8B-F21C-E87C8E7E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 flipH="1">
            <a:off x="10043482" y="655140"/>
            <a:ext cx="687472" cy="6874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Freeform: Shape 15">
            <a:extLst xmlns:a="http://schemas.openxmlformats.org/drawingml/2006/main">
              <a:ext uri="{FF2B5EF4-FFF2-40B4-BE49-F238E27FC236}">
                <a16:creationId xmlns:a16="http://schemas.microsoft.com/office/drawing/2014/main" id="{B79B4B4E-7A67-805E-E9CA-67507225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9356643" y="0"/>
            <a:ext cx="2835357" cy="1480837"/>
          </a:xfrm>
          <a:custGeom xmlns:a="http://schemas.openxmlformats.org/drawingml/2006/main"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 xmlns:a="http://schemas.openxmlformats.org/drawingml/2006/main">
            <a:schemeClr val="accent4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Isosceles Triangle 17">
            <a:extLst xmlns:a="http://schemas.openxmlformats.org/drawingml/2006/main">
              <a:ext uri="{FF2B5EF4-FFF2-40B4-BE49-F238E27FC236}">
                <a16:creationId xmlns:a16="http://schemas.microsoft.com/office/drawing/2014/main" id="{554A2293-32CA-7C9E-06C0-64130710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976344" y="6115501"/>
            <a:ext cx="1494513" cy="742499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31DA0CD9-59DA-1976-7C52-8244C9A1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604080" y="6453143"/>
            <a:ext cx="814903" cy="404857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9D0214B-0729-92E1-1C0C-59DCB2DB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211" y="517264"/>
            <a:ext cx="5660571" cy="46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t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Build and Assembly Introduction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9EE3950-4A99-61DF-E538-99F098BE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482" y="1716437"/>
            <a:ext cx="9209312" cy="44012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t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Char char="•"/>
            </a:pPr>
            <a:r>
              <a:rPr sz="2000" b="1">
                <a:solidFill>
                  <a:srgbClr val="111820"/>
                </a:solidFill>
                <a:latin typeface="Helvetica"/>
                <a:ea typeface="Helvetica"/>
                <a:cs typeface="Helvetica"/>
              </a:rPr>
              <a:t>Scope</a:t>
            </a:r>
            <a:r>
              <a:rPr sz="2000">
                <a:solidFill>
                  <a:srgbClr val="111820"/>
                </a:solidFill>
                <a:latin typeface="Helvetica"/>
                <a:ea typeface="Helvetica"/>
                <a:cs typeface="Helvetica"/>
              </a:rPr>
              <a:t>: Research and develop an AI based system capable of detecting errors &amp; deviations in various stages of assembly processes from first person view videos resulting in improved efficiency, higher throughput, and faster production times.</a:t>
            </a:r>
            <a:br/>
          </a:p>
          <a:p xmlns:a="http://schemas.openxmlformats.org/drawingml/2006/main">
            <a:pPr marL="285750" indent="-285750">
              <a:buChar char="•"/>
            </a:pPr>
            <a:r>
              <a:rPr sz="2000" b="1">
                <a:latin typeface="Helvetica"/>
                <a:ea typeface="Helvetica"/>
                <a:cs typeface="Helvetica"/>
              </a:rPr>
              <a:t>Value</a:t>
            </a:r>
            <a:r>
              <a:rPr sz="2000">
                <a:latin typeface="Helvetica"/>
                <a:ea typeface="Helvetica"/>
                <a:cs typeface="Helvetica"/>
              </a:rPr>
              <a:t>: Benefits the company wide </a:t>
            </a:r>
            <a:r>
              <a:rPr sz="2000">
                <a:latin typeface="Helvetica"/>
                <a:ea typeface="Helvetica"/>
                <a:cs typeface="Helvetica"/>
              </a:rPr>
              <a:t>effor</a:t>
            </a:r>
            <a:r>
              <a:rPr sz="2000">
                <a:latin typeface="Helvetica"/>
                <a:ea typeface="Helvetica"/>
                <a:cs typeface="Helvetica"/>
              </a:rPr>
              <a:t>t by significantly reducing the time required of quality checks, allowing for faster production cycle and shorter lead times</a:t>
            </a:r>
            <a:br/>
          </a:p>
          <a:p xmlns:a="http://schemas.openxmlformats.org/drawingml/2006/main">
            <a:pPr marL="285750" indent="-285750">
              <a:buChar char="•"/>
            </a:pPr>
            <a:r>
              <a:rPr sz="2000" b="1">
                <a:latin typeface="Helvetica"/>
                <a:ea typeface="Helvetica"/>
                <a:cs typeface="Helvetica"/>
              </a:rPr>
              <a:t>Business Area</a:t>
            </a:r>
            <a:r>
              <a:rPr sz="2000">
                <a:latin typeface="Helvetica"/>
                <a:ea typeface="Helvetica"/>
                <a:cs typeface="Helvetica"/>
              </a:rPr>
              <a:t>: Aero</a:t>
            </a:r>
          </a:p>
          <a:p xmlns:a="http://schemas.openxmlformats.org/drawingml/2006/main">
            <a:pPr marL="285750" indent="-285750">
              <a:buChar char="•"/>
            </a:pPr>
          </a:p>
          <a:p xmlns:a="http://schemas.openxmlformats.org/drawingml/2006/main">
            <a:pPr marL="285750" indent="-285750">
              <a:buChar char="•"/>
            </a:pPr>
            <a:r>
              <a:rPr sz="2000" b="1">
                <a:latin typeface="Helvetica"/>
                <a:ea typeface="Helvetica"/>
                <a:cs typeface="Helvetica"/>
              </a:rPr>
              <a:t>Viewpoint</a:t>
            </a:r>
            <a:r>
              <a:rPr sz="2000">
                <a:latin typeface="Helvetica"/>
                <a:ea typeface="Helvetica"/>
                <a:cs typeface="Helvetica"/>
              </a:rPr>
              <a:t>: Egocentric</a:t>
            </a:r>
            <a:br/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574342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3060C83-F051-4F0E-ABAD-AA0DFC48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Freeform: Shape 8">
            <a:extLst xmlns:a="http://schemas.openxmlformats.org/drawingml/2006/main">
              <a:ext uri="{FF2B5EF4-FFF2-40B4-BE49-F238E27FC236}">
                <a16:creationId xmlns:a16="http://schemas.microsoft.com/office/drawing/2014/main" id="{83C98ABE-055B-441F-B07E-44F97F08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 flipH="1">
            <a:off x="-376156" y="-253670"/>
            <a:ext cx="1827638" cy="1376989"/>
          </a:xfrm>
          <a:custGeom xmlns:a="http://schemas.openxmlformats.org/drawingml/2006/main"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9FDB030-9B49-4CED-8CCD-4D993823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 flipH="1">
            <a:off x="891641" y="422146"/>
            <a:ext cx="645368" cy="64536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783CA14-24A1-485C-8B30-D6A5D879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 flipH="1">
            <a:off x="10043482" y="655140"/>
            <a:ext cx="687472" cy="6874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Freeform: Shape 14">
            <a:extLst xmlns:a="http://schemas.openxmlformats.org/drawingml/2006/main">
              <a:ext uri="{FF2B5EF4-FFF2-40B4-BE49-F238E27FC236}">
                <a16:creationId xmlns:a16="http://schemas.microsoft.com/office/drawing/2014/main" id="{9A97C86A-04D6-40F7-AE84-31AB43E6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9356643" y="0"/>
            <a:ext cx="2835357" cy="1480837"/>
          </a:xfrm>
          <a:custGeom xmlns:a="http://schemas.openxmlformats.org/drawingml/2006/main"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 xmlns:a="http://schemas.openxmlformats.org/drawingml/2006/main">
            <a:schemeClr val="accent4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Isosceles Triangle 16">
            <a:extLst xmlns:a="http://schemas.openxmlformats.org/drawingml/2006/main">
              <a:ext uri="{FF2B5EF4-FFF2-40B4-BE49-F238E27FC236}">
                <a16:creationId xmlns:a16="http://schemas.microsoft.com/office/drawing/2014/main" id="{FF9F2414-84E8-453E-B1F3-389FDE81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976344" y="6115501"/>
            <a:ext cx="1494513" cy="742499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1d04f4e5d46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4020" y="643467"/>
            <a:ext cx="9323959" cy="55710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3ECA69A1-7536-43AC-85EF-C7106179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604080" y="6453143"/>
            <a:ext cx="814903" cy="404857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90865A9-2D0B-4D35-C39E-BAAA6340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470" y="311097"/>
            <a:ext cx="6706406" cy="46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t">
            <a:spAutoFit/>
          </a:bodyPr>
          <a:lstStyle xmlns:a="http://schemas.openxmlformats.org/drawingml/2006/main"/>
          <a:p xmlns:a="http://schemas.openxmlformats.org/drawingml/2006/main">
            <a:r>
              <a:rPr sz="2400"/>
              <a:t>Data collection Setup prototypes</a:t>
            </a:r>
          </a:p>
        </p:txBody>
      </p:sp>
    </p:spTree>
    <p:extLst>
      <p:ext uri="{BB962C8B-B14F-4D97-AF65-F5344CB8AC3E}">
        <p14:creationId xmlns:p14="http://schemas.microsoft.com/office/powerpoint/2010/main" val="898244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B8C311F-7253-4AED-9701-7FC0708C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384209-CB15-4CDF-9D31-C44FD9A3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>
            <a:off x="2666617" y="-2666188"/>
            <a:ext cx="6858000" cy="1219123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633B3B5-CC90-43F0-8714-D31D1F3F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-2311" y="0"/>
            <a:ext cx="9070846" cy="685757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8D57A06-A426-446D-B02C-A2DC6B62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>
            <a:off x="3649491" y="-1685840"/>
            <a:ext cx="4894564" cy="1219354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1f6651765446c">
            <a:extLst>
              <a:ext uri="{96DAC541-7B7A-43D3-8B79-37D633B846F1}">
                <asvg:svgBlip xmlns:asvg="http://schemas.microsoft.com/office/drawing/2016/SVG/main" r:embed="R2072f70a9c73409e"/>
              </a:ext>
            </a:extLst>
          </a:blip>
          <a:srcRect xmlns:a="http://schemas.openxmlformats.org/drawingml/2006/main" l="0" t="6306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8493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99D2C73-08B0-4F6B-A8E9-4651E6BD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68DB88C-7EF2-487C-85D1-848F61F1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12" y="480060"/>
            <a:ext cx="11237976" cy="5897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be3fdae714d3d"/>
          <a:srcRect xmlns:a="http://schemas.openxmlformats.org/drawingml/2006/main" l="30069" t="0" r="15689" b="-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467" y="643467"/>
            <a:ext cx="5372099" cy="5571066"/>
          </a:xfrm>
          <a:prstGeom xmlns:a="http://schemas.openxmlformats.org/drawingml/2006/main" prst="rect">
            <a:avLst/>
          </a:prstGeom>
        </p:spPr>
      </p:pic>
      <p:pic>
        <p:nvPicPr>
          <p:cNvPr id="1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855649b164ed7"/>
          <a:srcRect xmlns:a="http://schemas.openxmlformats.org/drawingml/2006/main" l="22778" t="0" r="22980" b="-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6432" y="643467"/>
            <a:ext cx="5372100" cy="55710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761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0">
            <a:extLst xmlns:a="http://schemas.openxmlformats.org/drawingml/2006/main">
              <a:ext uri="{FF2B5EF4-FFF2-40B4-BE49-F238E27FC236}">
                <a16:creationId xmlns:a16="http://schemas.microsoft.com/office/drawing/2014/main" id="{CE839F3A-11A8-BF91-4452-03A34A3E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519" y="413243"/>
            <a:ext cx="5836197" cy="41549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lvl1pPr>
              <a:buNone/>
              <a:defRPr sz="2700" b="1">
                <a:solidFill>
                  <a:srgbClr val="1A2733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Final Selected Assembly Platform</a:t>
            </a:r>
          </a:p>
        </p:txBody>
      </p:sp>
      <p:pic>
        <p:nvPicPr>
          <p:cNvPr id="4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b6339c2b24c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7037" y="3872895"/>
            <a:ext cx="3809093" cy="2247296"/>
          </a:xfrm>
          <a:prstGeom xmlns:a="http://schemas.openxmlformats.org/drawingml/2006/main" prst="rect">
            <a:avLst/>
          </a:prstGeom>
        </p:spPr>
      </p:pic>
      <p:pic>
        <p:nvPicPr>
          <p:cNvPr id="4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e9cf991534c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907" y="1052739"/>
            <a:ext cx="4773386" cy="2473779"/>
          </a:xfrm>
          <a:prstGeom xmlns:a="http://schemas.openxmlformats.org/drawingml/2006/main" prst="rect">
            <a:avLst/>
          </a:prstGeom>
        </p:spPr>
      </p:pic>
      <p:pic>
        <p:nvPicPr>
          <p:cNvPr id="4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d4c6c679b47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0133" y="1393104"/>
            <a:ext cx="4555734" cy="44457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71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3060C83-F051-4F0E-ABAD-AA0DFC48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Freeform: Shape 9">
            <a:extLst xmlns:a="http://schemas.openxmlformats.org/drawingml/2006/main">
              <a:ext uri="{FF2B5EF4-FFF2-40B4-BE49-F238E27FC236}">
                <a16:creationId xmlns:a16="http://schemas.microsoft.com/office/drawing/2014/main" id="{83C98ABE-055B-441F-B07E-44F97F08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 flipH="1">
            <a:off x="-376156" y="-253670"/>
            <a:ext cx="1827638" cy="1376989"/>
          </a:xfrm>
          <a:custGeom xmlns:a="http://schemas.openxmlformats.org/drawingml/2006/main"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9FDB030-9B49-4CED-8CCD-4D993823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 flipH="1">
            <a:off x="891641" y="422146"/>
            <a:ext cx="645368" cy="64536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783CA14-24A1-485C-8B30-D6A5D879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 flipH="1">
            <a:off x="10043482" y="655140"/>
            <a:ext cx="687472" cy="6874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Freeform: Shape 15">
            <a:extLst xmlns:a="http://schemas.openxmlformats.org/drawingml/2006/main">
              <a:ext uri="{FF2B5EF4-FFF2-40B4-BE49-F238E27FC236}">
                <a16:creationId xmlns:a16="http://schemas.microsoft.com/office/drawing/2014/main" id="{9A97C86A-04D6-40F7-AE84-31AB43E6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9356643" y="0"/>
            <a:ext cx="2835357" cy="1480837"/>
          </a:xfrm>
          <a:custGeom xmlns:a="http://schemas.openxmlformats.org/drawingml/2006/main"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 xmlns:a="http://schemas.openxmlformats.org/drawingml/2006/main">
            <a:schemeClr val="accent4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Isosceles Triangle 17">
            <a:extLst xmlns:a="http://schemas.openxmlformats.org/drawingml/2006/main">
              <a:ext uri="{FF2B5EF4-FFF2-40B4-BE49-F238E27FC236}">
                <a16:creationId xmlns:a16="http://schemas.microsoft.com/office/drawing/2014/main" id="{FF9F2414-84E8-453E-B1F3-389FDE81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976344" y="6115501"/>
            <a:ext cx="1494513" cy="742499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b4fbdd22a4e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8399" y="2160210"/>
            <a:ext cx="6173944" cy="34664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3ECA69A1-7536-43AC-85EF-C7106179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604080" y="6453143"/>
            <a:ext cx="814903" cy="404857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A487F78-3847-F4FD-54D5-09899D74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040" y="2099321"/>
            <a:ext cx="2743200" cy="954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t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Why this platform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4752BAA-721E-B7D1-8B07-A5000E8E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282" y="2935637"/>
            <a:ext cx="4020455" cy="1754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t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Char char="•"/>
            </a:pPr>
            <a:r>
              <a:rPr>
                <a:solidFill>
                  <a:srgbClr val="111820"/>
                </a:solidFill>
                <a:latin typeface="Arial"/>
                <a:ea typeface="Arial"/>
                <a:cs typeface="Arial"/>
              </a:rPr>
              <a:t>Recognizable aerospace form</a:t>
            </a:r>
          </a:p>
          <a:p xmlns:a="http://schemas.openxmlformats.org/drawingml/2006/main">
            <a:pPr marL="285750" indent="-285750">
              <a:buChar char="•"/>
            </a:pPr>
            <a:r>
              <a:rPr>
                <a:solidFill>
                  <a:srgbClr val="111820"/>
                </a:solidFill>
                <a:latin typeface="Arial"/>
                <a:ea typeface="Arial"/>
                <a:cs typeface="Arial"/>
              </a:rPr>
              <a:t>Visible internal mechanics</a:t>
            </a:r>
          </a:p>
          <a:p xmlns:a="http://schemas.openxmlformats.org/drawingml/2006/main">
            <a:pPr marL="285750" indent="-285750">
              <a:buChar char="•"/>
            </a:pPr>
            <a:r>
              <a:rPr>
                <a:solidFill>
                  <a:srgbClr val="111820"/>
                </a:solidFill>
                <a:latin typeface="Arial"/>
                <a:ea typeface="Arial"/>
                <a:cs typeface="Arial"/>
              </a:rPr>
              <a:t> Powered motion</a:t>
            </a:r>
          </a:p>
          <a:p xmlns:a="http://schemas.openxmlformats.org/drawingml/2006/main">
            <a:pPr marL="285750" indent="-285750">
              <a:buChar char="•"/>
            </a:pPr>
            <a:r>
              <a:rPr>
                <a:solidFill>
                  <a:srgbClr val="111820"/>
                </a:solidFill>
                <a:latin typeface="Arial"/>
                <a:ea typeface="Arial"/>
                <a:cs typeface="Arial"/>
              </a:rPr>
              <a:t>Modular interfaces</a:t>
            </a:r>
          </a:p>
          <a:p xmlns:a="http://schemas.openxmlformats.org/drawingml/2006/main">
            <a:pPr marL="285750" indent="-285750">
              <a:buChar char="•"/>
            </a:pPr>
            <a:r>
              <a:rPr>
                <a:solidFill>
                  <a:srgbClr val="111820"/>
                </a:solidFill>
                <a:latin typeface="Arial"/>
                <a:ea typeface="Arial"/>
                <a:cs typeface="Arial"/>
              </a:rPr>
              <a:t>Repeatable assembly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5915513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5080A27-9690-4623-8A75-D9E2F578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049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The model creates strong visual evidence for a VLM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699AE76-47BD-4DFB-9A5E-9C6E4A07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019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t>The chosen actions combine mechanical alignment, tool use, connectivity and functional motion.</a:t>
            </a:r>
          </a:p>
        </p:txBody>
      </p:sp>
      <p:sp>
        <p:nvSpPr>
          <p:cNvPr id="3" name="reason-1">
            <a:extLst xmlns:a="http://schemas.openxmlformats.org/drawingml/2006/main">
              <a:ext uri="{FF2B5EF4-FFF2-40B4-BE49-F238E27FC236}">
                <a16:creationId xmlns:a16="http://schemas.microsoft.com/office/drawing/2014/main" id="{02C0AF73-FF87-491D-9FA9-5387A1DF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3352800" cy="44577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ason-2">
            <a:extLst xmlns:a="http://schemas.openxmlformats.org/drawingml/2006/main">
              <a:ext uri="{FF2B5EF4-FFF2-40B4-BE49-F238E27FC236}">
                <a16:creationId xmlns:a16="http://schemas.microsoft.com/office/drawing/2014/main" id="{42AD89FD-1B86-49FD-B640-C57441A5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62100"/>
            <a:ext cx="3352800" cy="44577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ason-3">
            <a:extLst xmlns:a="http://schemas.openxmlformats.org/drawingml/2006/main">
              <a:ext uri="{FF2B5EF4-FFF2-40B4-BE49-F238E27FC236}">
                <a16:creationId xmlns:a16="http://schemas.microsoft.com/office/drawing/2014/main" id="{4D26A84A-0DA1-466E-9430-F150C31C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352800" cy="44577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C4BA686-44D5-4187-B480-8EFBEE37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28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4A11347-DD12-47FB-9D6F-A5B63DCD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Observable mechanics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BFA154B-160C-4926-BB0A-9D59437D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857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t>Propeller, gears, compressor, turbine and casing </a:t>
            </a:r>
            <a:r>
              <a:t>create</a:t>
            </a:r>
            <a:r>
              <a:t> large, distinct visual state changes.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C72B49C-6ECB-42BF-AC39-E21EB913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90700"/>
            <a:ext cx="428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8A54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273A1AC-1A5F-44A2-BED8-4E9C8483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052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Egocentric compatibility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AA66F21-459C-4724-A5CE-96E6C844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514850"/>
            <a:ext cx="2857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t>Most actions happen directly in front of the operator and remain visible to a HoloLens camera.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6B5128D-469F-49AB-ACD2-D4538BD9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90700"/>
            <a:ext cx="428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3932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46D8660-9B8A-452F-9F89-E15B9AFC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Rich error vocabulary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4B865F5-4B9A-4A33-9723-B5150773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14850"/>
            <a:ext cx="2857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t>Wrong orientation, partial seating, missing fasteners, bad routing and skipped order are easy to stage.</a:t>
            </a:r>
          </a:p>
        </p:txBody>
      </p:sp>
      <p:cxnSp>
        <p:nvCxnSpPr>
          <p:cNvPr id="71" name="Straight Arrow Connector 34"/>
          <p:cNvCxnSpPr/>
          <p:nvPr/>
        </p:nvCxnSpPr>
        <p:spPr>
          <a:xfrm xmlns:a="http://schemas.openxmlformats.org/drawingml/2006/main">
            <a:off x="457200" y="64008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E"/>
            </a:solidFill>
            <a:prstDash val="solid"/>
          </a:ln>
        </p:spPr>
      </p:cxnSp>
      <p:pic>
        <p:nvPicPr>
          <p:cNvPr id="72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c7fae9329449d">
            <a:extLst>
              <a:ext uri="{96DAC541-7B7A-43D3-8B79-37D633B846F1}">
                <asvg:svgBlip xmlns:asvg="http://schemas.microsoft.com/office/drawing/2016/SVG/main" r:embed="Rbf03089b313e4656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52650"/>
            <a:ext cx="2895600" cy="1628775"/>
          </a:xfrm>
          <a:prstGeom xmlns:a="http://schemas.openxmlformats.org/drawingml/2006/main" prst="rect">
            <a:avLst/>
          </a:prstGeom>
        </p:spPr>
      </p:pic>
      <p:pic>
        <p:nvPicPr>
          <p:cNvPr id="73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dbb7de98b464b">
            <a:extLst>
              <a:ext uri="{96DAC541-7B7A-43D3-8B79-37D633B846F1}">
                <asvg:svgBlip xmlns:asvg="http://schemas.microsoft.com/office/drawing/2016/SVG/main" r:embed="R51482f0b01664e9e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5325" y="2152650"/>
            <a:ext cx="2895600" cy="1628775"/>
          </a:xfrm>
          <a:prstGeom xmlns:a="http://schemas.openxmlformats.org/drawingml/2006/main" prst="rect">
            <a:avLst/>
          </a:prstGeom>
        </p:spPr>
      </p:pic>
      <p:pic>
        <p:nvPicPr>
          <p:cNvPr id="74" name="Picture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ee358a70b40c3">
            <a:extLst>
              <a:ext uri="{96DAC541-7B7A-43D3-8B79-37D633B846F1}">
                <asvg:svgBlip xmlns:asvg="http://schemas.microsoft.com/office/drawing/2016/SVG/main" r:embed="R3fee572ca3ed49a3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850" y="2152650"/>
            <a:ext cx="2895600" cy="1628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403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EE759D8-A3F9-42F2-8C0C-D02033BF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049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Twenty observable actions fit a 4-5 minute run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7C0B5D6-2095-4AB1-9D39-E2080324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t>Prepared subassemblies remove repetitive micro-fastening while preserving the interfaces that matter to the model.</a:t>
            </a:r>
          </a:p>
        </p:txBody>
      </p:sp>
      <p:sp>
        <p:nvSpPr>
          <p:cNvPr id="3" name="phase-1">
            <a:extLst xmlns:a="http://schemas.openxmlformats.org/drawingml/2006/main">
              <a:ext uri="{FF2B5EF4-FFF2-40B4-BE49-F238E27FC236}">
                <a16:creationId xmlns:a16="http://schemas.microsoft.com/office/drawing/2014/main" id="{3A662FB5-C17A-4B5F-9BDD-AE187D28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2647950" cy="4048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44D2774-D057-4ABD-B519-51F64F59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9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8CC7A2-1C35-4A79-AD87-0CF4C773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2266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3932"/>
                </a:solidFill>
                <a:latin typeface="Arial"/>
                <a:ea typeface="Arial"/>
                <a:cs typeface="Arial"/>
              </a:defRPr>
            </a:pPr>
            <a:r>
              <a:t>PROPULSION INPUT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C278E1A-E2D2-4508-A3B8-3E58D725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22669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1  Stage parts
2  Assemble blades
3  Close propeller hub
4  Assemble planetary gears
5  Close gearbox</a:t>
            </a:r>
          </a:p>
        </p:txBody>
      </p:sp>
      <p:sp>
        <p:nvSpPr>
          <p:cNvPr id="7" name="phase-2">
            <a:extLst xmlns:a="http://schemas.openxmlformats.org/drawingml/2006/main">
              <a:ext uri="{FF2B5EF4-FFF2-40B4-BE49-F238E27FC236}">
                <a16:creationId xmlns:a16="http://schemas.microsoft.com/office/drawing/2014/main" id="{369A5013-8270-4688-92D8-9B995D48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647950" cy="4048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7C43024-8C1E-48FB-BD73-1B307FD2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011DA00-4F9F-493D-8798-C012C310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266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DRIVE + CONTROL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0070E8E-B73A-4594-BC77-B87159A3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22669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6  Mount motor and frame
7  Install drive shaft
8  Mount controller board
9  Terminate wiring
10 Prepare compressor rotors</a:t>
            </a:r>
          </a:p>
        </p:txBody>
      </p:sp>
      <p:sp>
        <p:nvSpPr>
          <p:cNvPr id="11" name="phase-3">
            <a:extLst xmlns:a="http://schemas.openxmlformats.org/drawingml/2006/main">
              <a:ext uri="{FF2B5EF4-FFF2-40B4-BE49-F238E27FC236}">
                <a16:creationId xmlns:a16="http://schemas.microsoft.com/office/drawing/2014/main" id="{824808DF-39B2-4437-9F7C-92B6C2EF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2647950" cy="4048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4A6A5CC-D952-4102-87F0-7C218B22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C8BD74A-7FF4-4980-B5F5-486E2B01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2625"/>
            <a:ext cx="2266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8A54"/>
                </a:solidFill>
                <a:latin typeface="Arial"/>
                <a:ea typeface="Arial"/>
                <a:cs typeface="Arial"/>
              </a:defRPr>
            </a:pPr>
            <a:r>
              <a:t>ENGINE CORE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8E4E19E-2973-4886-9941-A49FAE75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22669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11 Stack compressor pack
12 Install compressor
13 Install aft support
14 Fit aft housing
15 Secure turbine module</a:t>
            </a:r>
          </a:p>
        </p:txBody>
      </p:sp>
      <p:sp>
        <p:nvSpPr>
          <p:cNvPr id="15" name="phase-4">
            <a:extLst xmlns:a="http://schemas.openxmlformats.org/drawingml/2006/main">
              <a:ext uri="{FF2B5EF4-FFF2-40B4-BE49-F238E27FC236}">
                <a16:creationId xmlns:a16="http://schemas.microsoft.com/office/drawing/2014/main" id="{A566FD8B-7B2E-4ADC-904C-66377D4B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38300"/>
            <a:ext cx="2647950" cy="4048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A084428-8E50-44E3-9447-7DE8A1A1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3830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E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991D6BF-AB94-4A87-8FEA-A9A3B1FC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52625"/>
            <a:ext cx="2266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4EFF"/>
                </a:solidFill>
                <a:latin typeface="Arial"/>
                <a:ea typeface="Arial"/>
                <a:cs typeface="Arial"/>
              </a:defRPr>
            </a:pPr>
            <a:r>
              <a:t>INTEGRATION + TEST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AC4660E-AEA8-4638-BCFC-B7BAD56B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95550"/>
            <a:ext cx="22669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16 Install turbine rotor
17 Connect main harness
18 Complete internal frame
19 Fit nacelle panels
20 Perform powered test</a:t>
            </a:r>
          </a:p>
        </p:txBody>
      </p:sp>
      <p:sp>
        <p:nvSpPr>
          <p:cNvPr id="19" name="timing-band">
            <a:extLst xmlns:a="http://schemas.openxmlformats.org/drawingml/2006/main">
              <a:ext uri="{FF2B5EF4-FFF2-40B4-BE49-F238E27FC236}">
                <a16:creationId xmlns:a16="http://schemas.microsoft.com/office/drawing/2014/main" id="{39C4B37B-EBBF-4E98-ACF6-78B44A81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1277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1D48FB0-742E-432B-AACA-D8CB839A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Target: &lt;=15 seconds per action     |     One visible completion cue per step     |     Correct, error and recovery runs</a:t>
            </a:r>
          </a:p>
        </p:txBody>
      </p:sp>
      <p:cxnSp>
        <p:nvCxnSpPr>
          <p:cNvPr id="86" name="Straight Arrow Connector 43"/>
          <p:cNvCxnSpPr/>
          <p:nvPr/>
        </p:nvCxnSpPr>
        <p:spPr>
          <a:xfrm xmlns:a="http://schemas.openxmlformats.org/drawingml/2006/main">
            <a:off x="457200" y="64008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E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6604562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621D23A-56A3-4546-9458-FF7DBF4D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144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Each label is grounded by a visible before-and-after state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245A5B1-EBA2-4486-B0C8-572CC100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t>Store the action interval, contact frame and completion frame; use the completion cue for online feedback.</a:t>
            </a:r>
          </a:p>
        </p:txBody>
      </p:sp>
      <p:sp>
        <p:nvSpPr>
          <p:cNvPr id="3" name="evidence-1">
            <a:extLst xmlns:a="http://schemas.openxmlformats.org/drawingml/2006/main">
              <a:ext uri="{FF2B5EF4-FFF2-40B4-BE49-F238E27FC236}">
                <a16:creationId xmlns:a16="http://schemas.microsoft.com/office/drawing/2014/main" id="{5BD451D5-C1CD-4108-AE0D-8FB6892A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5054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3C2D30-BE6F-41DE-B6EC-251317F5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3810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STEP 04  Planetary gears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75CE8AB-ADE1-49B0-B3F5-4451A4D3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78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8A54"/>
                </a:solidFill>
                <a:latin typeface="Arial"/>
                <a:ea typeface="Arial"/>
                <a:cs typeface="Arial"/>
              </a:defRPr>
            </a:pPr>
            <a:r>
              <a:t>BEGIN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602E693-968F-4DEA-892D-F57A02C4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19300"/>
            <a:ext cx="66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3932"/>
                </a:solidFill>
                <a:latin typeface="Arial"/>
                <a:ea typeface="Arial"/>
                <a:cs typeface="Arial"/>
              </a:defRPr>
            </a:pPr>
            <a:r>
              <a:t>END</a:t>
            </a:r>
          </a:p>
        </p:txBody>
      </p:sp>
      <p:sp>
        <p:nvSpPr>
          <p:cNvPr id="7" name="evidence-2">
            <a:extLst xmlns:a="http://schemas.openxmlformats.org/drawingml/2006/main">
              <a:ext uri="{FF2B5EF4-FFF2-40B4-BE49-F238E27FC236}">
                <a16:creationId xmlns:a16="http://schemas.microsoft.com/office/drawing/2014/main" id="{D70B65A2-F311-4661-A587-AFB1DF71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24000"/>
            <a:ext cx="55054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296E331-CC93-4620-9258-C4C807F3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76400"/>
            <a:ext cx="3810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STEP 09  Controller wiring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BFDBE4B-910D-4392-8326-A3FF41EF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78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8A54"/>
                </a:solidFill>
                <a:latin typeface="Arial"/>
                <a:ea typeface="Arial"/>
                <a:cs typeface="Arial"/>
              </a:defRPr>
            </a:pPr>
            <a:r>
              <a:t>BEGIN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C1172CE-ABEC-4D3D-A421-A2826FAA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19300"/>
            <a:ext cx="66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3932"/>
                </a:solidFill>
                <a:latin typeface="Arial"/>
                <a:ea typeface="Arial"/>
                <a:cs typeface="Arial"/>
              </a:defRPr>
            </a:pPr>
            <a:r>
              <a:t>END</a:t>
            </a:r>
          </a:p>
        </p:txBody>
      </p:sp>
      <p:sp>
        <p:nvSpPr>
          <p:cNvPr id="11" name="evidence-3">
            <a:extLst xmlns:a="http://schemas.openxmlformats.org/drawingml/2006/main">
              <a:ext uri="{FF2B5EF4-FFF2-40B4-BE49-F238E27FC236}">
                <a16:creationId xmlns:a16="http://schemas.microsoft.com/office/drawing/2014/main" id="{4EFBBF5F-2E51-4A93-9F93-99FAF968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55054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40E5FA6-1267-4D83-94F9-DDF356AC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3810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STEP 11  Compressor pack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F1821AE-A878-43EA-9B2D-95C3AD4F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78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8A54"/>
                </a:solidFill>
                <a:latin typeface="Arial"/>
                <a:ea typeface="Arial"/>
                <a:cs typeface="Arial"/>
              </a:defRPr>
            </a:pPr>
            <a:r>
              <a:t>BEGIN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D8638EB-B8CA-4DF8-AAB1-5FBE2FAD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57700"/>
            <a:ext cx="66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3932"/>
                </a:solidFill>
                <a:latin typeface="Arial"/>
                <a:ea typeface="Arial"/>
                <a:cs typeface="Arial"/>
              </a:defRPr>
            </a:pPr>
            <a:r>
              <a:t>END</a:t>
            </a:r>
          </a:p>
        </p:txBody>
      </p:sp>
      <p:sp>
        <p:nvSpPr>
          <p:cNvPr id="15" name="evidence-4">
            <a:extLst xmlns:a="http://schemas.openxmlformats.org/drawingml/2006/main">
              <a:ext uri="{FF2B5EF4-FFF2-40B4-BE49-F238E27FC236}">
                <a16:creationId xmlns:a16="http://schemas.microsoft.com/office/drawing/2014/main" id="{55723DF1-E75E-4158-8007-A3228203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62400"/>
            <a:ext cx="55054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FD9FAA8-871D-42EC-AAB1-5ADE94AA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14800"/>
            <a:ext cx="3810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STEP 19  Nacelle panels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A609404-82D8-4EB8-B9D5-A3C736F7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78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8A54"/>
                </a:solidFill>
                <a:latin typeface="Arial"/>
                <a:ea typeface="Arial"/>
                <a:cs typeface="Arial"/>
              </a:defRPr>
            </a:pPr>
            <a:r>
              <a:t>BEGIN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7A6593D-6F39-4E97-9C07-A43F0947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457700"/>
            <a:ext cx="66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93932"/>
                </a:solidFill>
                <a:latin typeface="Arial"/>
                <a:ea typeface="Arial"/>
                <a:cs typeface="Arial"/>
              </a:defRPr>
            </a:pPr>
            <a:r>
              <a:t>END</a:t>
            </a:r>
          </a:p>
        </p:txBody>
      </p:sp>
      <p:cxnSp>
        <p:nvCxnSpPr>
          <p:cNvPr id="102" name="Straight Arrow Connector 47"/>
          <p:cNvCxnSpPr/>
          <p:nvPr/>
        </p:nvCxnSpPr>
        <p:spPr>
          <a:xfrm xmlns:a="http://schemas.openxmlformats.org/drawingml/2006/main">
            <a:off x="457200" y="64008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E"/>
            </a:solidFill>
            <a:prstDash val="solid"/>
          </a:ln>
        </p:spPr>
      </p:cxnSp>
      <p:pic>
        <p:nvPicPr>
          <p:cNvPr id="103" name="Picture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86520dfc24843"/>
          <a:srcRect xmlns:a="http://schemas.openxmlformats.org/drawingml/2006/main" l="0" t="3181" r="0" b="3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266950"/>
            <a:ext cx="2495550" cy="1314450"/>
          </a:xfrm>
          <a:prstGeom xmlns:a="http://schemas.openxmlformats.org/drawingml/2006/main" prst="rect">
            <a:avLst/>
          </a:prstGeom>
        </p:spPr>
      </p:pic>
      <p:pic>
        <p:nvPicPr>
          <p:cNvPr id="104" name="Picture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a9e14bb474b0b">
            <a:extLst>
              <a:ext uri="{96DAC541-7B7A-43D3-8B79-37D633B846F1}">
                <asvg:svgBlip xmlns:asvg="http://schemas.microsoft.com/office/drawing/2016/SVG/main" r:embed="Rce523e3724fa4345"/>
              </a:ext>
            </a:extLst>
          </a:blip>
          <a:srcRect xmlns:a="http://schemas.openxmlformats.org/drawingml/2006/main" l="0" t="3181" r="0" b="3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86125" y="2266950"/>
            <a:ext cx="2495550" cy="1314450"/>
          </a:xfrm>
          <a:prstGeom xmlns:a="http://schemas.openxmlformats.org/drawingml/2006/main" prst="rect">
            <a:avLst/>
          </a:prstGeom>
        </p:spPr>
      </p:pic>
      <p:pic>
        <p:nvPicPr>
          <p:cNvPr id="105" name="Picture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cb21c345a4bee"/>
          <a:srcRect xmlns:a="http://schemas.openxmlformats.org/drawingml/2006/main" l="0" t="3181" r="0" b="3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266950"/>
            <a:ext cx="2495550" cy="1314450"/>
          </a:xfrm>
          <a:prstGeom xmlns:a="http://schemas.openxmlformats.org/drawingml/2006/main" prst="rect">
            <a:avLst/>
          </a:prstGeom>
        </p:spPr>
      </p:pic>
      <p:pic>
        <p:nvPicPr>
          <p:cNvPr id="106" name="Picture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56b1c6d6e4aa3"/>
          <a:srcRect xmlns:a="http://schemas.openxmlformats.org/drawingml/2006/main" l="0" t="3181" r="0" b="3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58275" y="2266950"/>
            <a:ext cx="2495550" cy="1314450"/>
          </a:xfrm>
          <a:prstGeom xmlns:a="http://schemas.openxmlformats.org/drawingml/2006/main" prst="rect">
            <a:avLst/>
          </a:prstGeom>
        </p:spPr>
      </p:pic>
      <p:pic>
        <p:nvPicPr>
          <p:cNvPr id="107" name="Pictur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e4149ca8a4559"/>
          <a:srcRect xmlns:a="http://schemas.openxmlformats.org/drawingml/2006/main" l="0" t="3181" r="0" b="3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4705350"/>
            <a:ext cx="2495550" cy="1314450"/>
          </a:xfrm>
          <a:prstGeom xmlns:a="http://schemas.openxmlformats.org/drawingml/2006/main" prst="rect">
            <a:avLst/>
          </a:prstGeom>
        </p:spPr>
      </p:pic>
      <p:pic>
        <p:nvPicPr>
          <p:cNvPr id="108" name="Picture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d2450e8be45b3">
            <a:extLst>
              <a:ext uri="{96DAC541-7B7A-43D3-8B79-37D633B846F1}">
                <asvg:svgBlip xmlns:asvg="http://schemas.microsoft.com/office/drawing/2016/SVG/main" r:embed="Rb6df1dc8c2a0478c"/>
              </a:ext>
            </a:extLst>
          </a:blip>
          <a:srcRect xmlns:a="http://schemas.openxmlformats.org/drawingml/2006/main" l="0" t="3181" r="0" b="3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86125" y="4705350"/>
            <a:ext cx="2495550" cy="1314450"/>
          </a:xfrm>
          <a:prstGeom xmlns:a="http://schemas.openxmlformats.org/drawingml/2006/main" prst="rect">
            <a:avLst/>
          </a:prstGeom>
        </p:spPr>
      </p:pic>
      <p:pic>
        <p:nvPicPr>
          <p:cNvPr id="109" name="Picture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28a62104a4162"/>
          <a:srcRect xmlns:a="http://schemas.openxmlformats.org/drawingml/2006/main" l="0" t="3181" r="0" b="3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705350"/>
            <a:ext cx="2495550" cy="1314450"/>
          </a:xfrm>
          <a:prstGeom xmlns:a="http://schemas.openxmlformats.org/drawingml/2006/main" prst="rect">
            <a:avLst/>
          </a:prstGeom>
        </p:spPr>
      </p:pic>
      <p:pic>
        <p:nvPicPr>
          <p:cNvPr id="110" name="Picture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d29f5a46848b6"/>
          <a:srcRect xmlns:a="http://schemas.openxmlformats.org/drawingml/2006/main" l="0" t="3181" r="0" b="3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58275" y="4705350"/>
            <a:ext cx="2495550" cy="1314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883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0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hape 0">
            <a:extLst xmlns:a="http://schemas.openxmlformats.org/drawingml/2006/main">
              <a:ext uri="{FF2B5EF4-FFF2-40B4-BE49-F238E27FC236}">
                <a16:creationId xmlns:a16="http://schemas.microsoft.com/office/drawing/2014/main" id="{F174832E-963E-4818-BC24-8473B361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554480"/>
            <a:ext cx="2651761" cy="822961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CFE0F0">
              <a:alpha val="92000"/>
            </a:srgbClr>
          </a:solidFill>
          <a:ln xmlns:a="http://schemas.openxmlformats.org/drawingml/2006/main" w="19050">
            <a:solidFill>
              <a:srgbClr val="3E6E96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21" name="Text 1">
            <a:extLst xmlns:a="http://schemas.openxmlformats.org/drawingml/2006/main">
              <a:ext uri="{FF2B5EF4-FFF2-40B4-BE49-F238E27FC236}">
                <a16:creationId xmlns:a16="http://schemas.microsoft.com/office/drawing/2014/main" id="{73563E2A-83EE-4CAE-8BE0-74E7CF3A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26961"/>
            <a:ext cx="2560321" cy="27799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rgbClr val="1A2733"/>
                </a:solidFill>
              </a:defRPr>
            </a:lvl1pPr>
          </a:lstStyle>
          <a:p xmlns:a="http://schemas.openxmlformats.org/drawingml/2006/main">
            <a:r>
              <a:t>Video</a:t>
            </a:r>
          </a:p>
        </p:txBody>
      </p:sp>
      <p:sp>
        <p:nvSpPr>
          <p:cNvPr id="22" name="Shape 2">
            <a:extLst xmlns:a="http://schemas.openxmlformats.org/drawingml/2006/main">
              <a:ext uri="{FF2B5EF4-FFF2-40B4-BE49-F238E27FC236}">
                <a16:creationId xmlns:a16="http://schemas.microsoft.com/office/drawing/2014/main" id="{B0EEEF84-959B-4174-A1FE-CB710D7D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59" y="2377439"/>
            <a:ext cx="1" cy="22860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9BB4C7"/>
            </a:solidFill>
            <a:tailEnd type="triangle"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23" name="Shape 3">
            <a:extLst xmlns:a="http://schemas.openxmlformats.org/drawingml/2006/main">
              <a:ext uri="{FF2B5EF4-FFF2-40B4-BE49-F238E27FC236}">
                <a16:creationId xmlns:a16="http://schemas.microsoft.com/office/drawing/2014/main" id="{3BFE8275-1758-4B5F-BDFB-D15543A4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606039"/>
            <a:ext cx="2651761" cy="822961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D9B0">
              <a:alpha val="92000"/>
            </a:srgbClr>
          </a:solidFill>
          <a:ln xmlns:a="http://schemas.openxmlformats.org/drawingml/2006/main" w="19050">
            <a:solidFill>
              <a:srgbClr val="C98A3C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24" name="Text 4">
            <a:extLst xmlns:a="http://schemas.openxmlformats.org/drawingml/2006/main">
              <a:ext uri="{FF2B5EF4-FFF2-40B4-BE49-F238E27FC236}">
                <a16:creationId xmlns:a16="http://schemas.microsoft.com/office/drawing/2014/main" id="{DE11192D-1926-4FE9-9D74-9BE1955A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78521"/>
            <a:ext cx="2560321" cy="27799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rgbClr val="1A2733"/>
                </a:solidFill>
              </a:defRPr>
            </a:lvl1pPr>
          </a:lstStyle>
          <a:p xmlns:a="http://schemas.openxmlformats.org/drawingml/2006/main">
            <a:r>
              <a:t>Segment</a:t>
            </a:r>
          </a:p>
        </p:txBody>
      </p:sp>
      <p:sp>
        <p:nvSpPr>
          <p:cNvPr id="25" name="Shape 5">
            <a:extLst xmlns:a="http://schemas.openxmlformats.org/drawingml/2006/main">
              <a:ext uri="{FF2B5EF4-FFF2-40B4-BE49-F238E27FC236}">
                <a16:creationId xmlns:a16="http://schemas.microsoft.com/office/drawing/2014/main" id="{308B097B-6DD7-4D78-B1BA-79CDBD85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59" y="3429000"/>
            <a:ext cx="1" cy="22860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9BB4C7"/>
            </a:solidFill>
            <a:tailEnd type="triangle"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26" name="Shape 6">
            <a:extLst xmlns:a="http://schemas.openxmlformats.org/drawingml/2006/main">
              <a:ext uri="{FF2B5EF4-FFF2-40B4-BE49-F238E27FC236}">
                <a16:creationId xmlns:a16="http://schemas.microsoft.com/office/drawing/2014/main" id="{481366FA-0172-4FD5-A196-D6750013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657600"/>
            <a:ext cx="2651761" cy="822961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CDE9D6">
              <a:alpha val="92000"/>
            </a:srgbClr>
          </a:solidFill>
          <a:ln xmlns:a="http://schemas.openxmlformats.org/drawingml/2006/main" w="19050">
            <a:solidFill>
              <a:srgbClr val="3E8B60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27" name="Text 7">
            <a:extLst xmlns:a="http://schemas.openxmlformats.org/drawingml/2006/main">
              <a:ext uri="{FF2B5EF4-FFF2-40B4-BE49-F238E27FC236}">
                <a16:creationId xmlns:a16="http://schemas.microsoft.com/office/drawing/2014/main" id="{88D6BE2E-379F-4E4C-B0E6-189A7DFF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30081"/>
            <a:ext cx="2560321" cy="27799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rgbClr val="1A2733"/>
                </a:solidFill>
              </a:defRPr>
            </a:lvl1pPr>
          </a:lstStyle>
          <a:p xmlns:a="http://schemas.openxmlformats.org/drawingml/2006/main">
            <a:r>
              <a:t>Verify</a:t>
            </a:r>
          </a:p>
        </p:txBody>
      </p:sp>
      <p:sp>
        <p:nvSpPr>
          <p:cNvPr id="28" name="Text 8">
            <a:extLst xmlns:a="http://schemas.openxmlformats.org/drawingml/2006/main">
              <a:ext uri="{FF2B5EF4-FFF2-40B4-BE49-F238E27FC236}">
                <a16:creationId xmlns:a16="http://schemas.microsoft.com/office/drawing/2014/main" id="{D93B9C59-4C6F-4D01-8063-C37EF6CB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1526539"/>
            <a:ext cx="7863842" cy="3302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200" b="1" spc="100">
                <a:solidFill>
                  <a:srgbClr val="F2A65A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IndustReal</a:t>
            </a:r>
          </a:p>
        </p:txBody>
      </p:sp>
      <p:sp>
        <p:nvSpPr>
          <p:cNvPr id="29" name="Text 9">
            <a:extLst xmlns:a="http://schemas.openxmlformats.org/drawingml/2006/main">
              <a:ext uri="{FF2B5EF4-FFF2-40B4-BE49-F238E27FC236}">
                <a16:creationId xmlns:a16="http://schemas.microsoft.com/office/drawing/2014/main" id="{39D87BD2-BEFF-4787-95EA-A0DABA38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2230120"/>
            <a:ext cx="7863842" cy="6604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4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Procedure Step Recognition</a:t>
            </a:r>
          </a:p>
        </p:txBody>
      </p:sp>
      <p:sp>
        <p:nvSpPr>
          <p:cNvPr id="30" name="Text 10">
            <a:extLst xmlns:a="http://schemas.openxmlformats.org/drawingml/2006/main">
              <a:ext uri="{FF2B5EF4-FFF2-40B4-BE49-F238E27FC236}">
                <a16:creationId xmlns:a16="http://schemas.microsoft.com/office/drawing/2014/main" id="{07E59469-DDE6-4430-8097-647C5344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335721"/>
            <a:ext cx="7772401" cy="18655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500" i="1">
                <a:solidFill>
                  <a:srgbClr val="CADCFC"/>
                </a:solidFill>
              </a:defRPr>
            </a:lvl1pPr>
          </a:lstStyle>
          <a:p xmlns:a="http://schemas.openxmlformats.org/drawingml/2006/main">
            <a:r>
              <a:t>Egocentric assembly video → step segmentation + compliance verification</a:t>
            </a:r>
          </a:p>
        </p:txBody>
      </p:sp>
      <p:sp>
        <p:nvSpPr>
          <p:cNvPr id="31" name="Text 11">
            <a:extLst xmlns:a="http://schemas.openxmlformats.org/drawingml/2006/main">
              <a:ext uri="{FF2B5EF4-FFF2-40B4-BE49-F238E27FC236}">
                <a16:creationId xmlns:a16="http://schemas.microsoft.com/office/drawing/2014/main" id="{DFC3310E-9280-4F42-9803-7A7EE287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" y="3990647"/>
            <a:ext cx="7863842" cy="15686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t>Architecture v2  </a:t>
            </a:r>
            <a:r>
              <a:rPr b="0">
                <a:solidFill>
                  <a:srgbClr val="9BB4C7"/>
                </a:solidFill>
              </a:rPr>
              <a:t>· VideoMAEv2-giant, SSv2-pretrained (frozen) → ASFormer / DiffAct++ → Viterbi</a:t>
            </a:r>
          </a:p>
        </p:txBody>
      </p:sp>
      <p:sp>
        <p:nvSpPr>
          <p:cNvPr id="32" name="Text 12">
            <a:extLst xmlns:a="http://schemas.openxmlformats.org/drawingml/2006/main">
              <a:ext uri="{FF2B5EF4-FFF2-40B4-BE49-F238E27FC236}">
                <a16:creationId xmlns:a16="http://schemas.microsoft.com/office/drawing/2014/main" id="{AC73FE05-113E-430B-9FF3-8B5002EF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025187"/>
            <a:ext cx="7315201" cy="15686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200">
                <a:solidFill>
                  <a:srgbClr val="7E93A5"/>
                </a:solidFill>
              </a:defRPr>
            </a:lvl1pPr>
          </a:lstStyle>
          <a:p xmlns:a="http://schemas.openxmlformats.org/drawingml/2006/main">
            <a:r>
              <a:t>Sana Hafez (lead) . Nahom . Dhyey Vank . Ketan More</a:t>
            </a:r>
          </a:p>
        </p:txBody>
      </p:sp>
    </p:spTree>
    <p:extLst>
      <p:ext uri="{BB962C8B-B14F-4D97-AF65-F5344CB8AC3E}">
        <p14:creationId xmlns:p14="http://schemas.microsoft.com/office/powerpoint/2010/main" val="72154489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0">
            <a:extLst xmlns:a="http://schemas.openxmlformats.org/drawingml/2006/main">
              <a:ext uri="{FF2B5EF4-FFF2-40B4-BE49-F238E27FC236}">
                <a16:creationId xmlns:a16="http://schemas.microsoft.com/office/drawing/2014/main" id="{D0DD5411-8CBD-4EF6-9F6F-F19E4485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432307"/>
            <a:ext cx="11155682" cy="4064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700" b="1">
                <a:solidFill>
                  <a:srgbClr val="1A2733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The task</a:t>
            </a:r>
          </a:p>
        </p:txBody>
      </p:sp>
      <p:sp>
        <p:nvSpPr>
          <p:cNvPr id="37" name="Text 1">
            <a:extLst xmlns:a="http://schemas.openxmlformats.org/drawingml/2006/main">
              <a:ext uri="{FF2B5EF4-FFF2-40B4-BE49-F238E27FC236}">
                <a16:creationId xmlns:a16="http://schemas.microsoft.com/office/drawing/2014/main" id="{6FB673B2-326B-49DC-A515-CA727A00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1009327"/>
            <a:ext cx="11155682" cy="16676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300" i="1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Turn a long egocentric assembly video into an ordered, verified step sequence</a:t>
            </a:r>
          </a:p>
        </p:txBody>
      </p:sp>
      <p:sp>
        <p:nvSpPr>
          <p:cNvPr id="38" name="Shape 2">
            <a:extLst xmlns:a="http://schemas.openxmlformats.org/drawingml/2006/main">
              <a:ext uri="{FF2B5EF4-FFF2-40B4-BE49-F238E27FC236}">
                <a16:creationId xmlns:a16="http://schemas.microsoft.com/office/drawing/2014/main" id="{E42667D9-25C5-4694-A8AF-9E2CFF94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1463039"/>
            <a:ext cx="3611881" cy="3017522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2700">
            <a:solidFill>
              <a:srgbClr val="DCE4EB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39" name="Shape 3">
            <a:extLst xmlns:a="http://schemas.openxmlformats.org/drawingml/2006/main">
              <a:ext uri="{FF2B5EF4-FFF2-40B4-BE49-F238E27FC236}">
                <a16:creationId xmlns:a16="http://schemas.microsoft.com/office/drawing/2014/main" id="{EAB1EFEF-B19F-4AFC-B97E-C8C2209D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1" y="1737360"/>
            <a:ext cx="822962" cy="457201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CFE0F0"/>
          </a:solidFill>
          <a:ln xmlns:a="http://schemas.openxmlformats.org/drawingml/2006/main" w="12700">
            <a:solidFill>
              <a:srgbClr val="3E6E96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40" name="Text 4">
            <a:extLst xmlns:a="http://schemas.openxmlformats.org/drawingml/2006/main">
              <a:ext uri="{FF2B5EF4-FFF2-40B4-BE49-F238E27FC236}">
                <a16:creationId xmlns:a16="http://schemas.microsoft.com/office/drawing/2014/main" id="{FA6D45EB-2D4F-4BB9-83F3-7BB8212F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" y="1786890"/>
            <a:ext cx="731521" cy="3581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b="1">
                <a:solidFill>
                  <a:srgbClr val="1A2733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1</a:t>
            </a:r>
          </a:p>
        </p:txBody>
      </p:sp>
      <p:sp>
        <p:nvSpPr>
          <p:cNvPr id="41" name="Text 5">
            <a:extLst xmlns:a="http://schemas.openxmlformats.org/drawingml/2006/main">
              <a:ext uri="{FF2B5EF4-FFF2-40B4-BE49-F238E27FC236}">
                <a16:creationId xmlns:a16="http://schemas.microsoft.com/office/drawing/2014/main" id="{054669F1-41E8-4F1A-825D-9CED0561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1" y="2387600"/>
            <a:ext cx="3108961" cy="254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700" b="1">
                <a:solidFill>
                  <a:srgbClr val="1A2733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Input</a:t>
            </a:r>
          </a:p>
        </p:txBody>
      </p:sp>
      <p:sp>
        <p:nvSpPr>
          <p:cNvPr id="42" name="Text 6">
            <a:extLst xmlns:a="http://schemas.openxmlformats.org/drawingml/2006/main">
              <a:ext uri="{FF2B5EF4-FFF2-40B4-BE49-F238E27FC236}">
                <a16:creationId xmlns:a16="http://schemas.microsoft.com/office/drawing/2014/main" id="{0D787C6D-BE8D-476D-984B-F3F6E637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1" y="2788920"/>
            <a:ext cx="3108961" cy="35050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2000"/>
              </a:lnSpc>
              <a:buNone/>
              <a:defRPr sz="1200">
                <a:solidFill>
                  <a:srgbClr val="34424E"/>
                </a:solidFill>
              </a:defRPr>
            </a:lvl1pPr>
          </a:lstStyle>
          <a:p xmlns:a="http://schemas.openxmlformats.org/drawingml/2006/main">
            <a:r>
              <a:t>One egocentric video of a person performing an assembly, several steps in sequence.</a:t>
            </a:r>
          </a:p>
        </p:txBody>
      </p:sp>
      <p:sp>
        <p:nvSpPr>
          <p:cNvPr id="43" name="Text 7">
            <a:extLst xmlns:a="http://schemas.openxmlformats.org/drawingml/2006/main">
              <a:ext uri="{FF2B5EF4-FFF2-40B4-BE49-F238E27FC236}">
                <a16:creationId xmlns:a16="http://schemas.microsoft.com/office/drawing/2014/main" id="{00196845-ACF2-43CB-9317-31ED8B78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1" y="4093386"/>
            <a:ext cx="3108961" cy="13426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 i="1">
                <a:solidFill>
                  <a:srgbClr val="3E6E96"/>
                </a:solidFill>
              </a:defRPr>
            </a:lvl1pPr>
          </a:lstStyle>
          <a:p xmlns:a="http://schemas.openxmlformats.org/drawingml/2006/main">
            <a:r>
              <a:t>mp4 · 30 fps · 1280×720</a:t>
            </a:r>
          </a:p>
        </p:txBody>
      </p:sp>
      <p:sp>
        <p:nvSpPr>
          <p:cNvPr id="44" name="Shape 8">
            <a:extLst xmlns:a="http://schemas.openxmlformats.org/drawingml/2006/main">
              <a:ext uri="{FF2B5EF4-FFF2-40B4-BE49-F238E27FC236}">
                <a16:creationId xmlns:a16="http://schemas.microsoft.com/office/drawing/2014/main" id="{557C74AD-2DC2-4C77-9739-F5DF41E6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63039"/>
            <a:ext cx="3611881" cy="3017522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2700">
            <a:solidFill>
              <a:srgbClr val="DCE4EB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45" name="Shape 9">
            <a:extLst xmlns:a="http://schemas.openxmlformats.org/drawingml/2006/main">
              <a:ext uri="{FF2B5EF4-FFF2-40B4-BE49-F238E27FC236}">
                <a16:creationId xmlns:a16="http://schemas.microsoft.com/office/drawing/2014/main" id="{21BE64B2-8536-4471-9DC4-917A486B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1" y="1737360"/>
            <a:ext cx="822961" cy="457201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CDE9D6"/>
          </a:solidFill>
          <a:ln xmlns:a="http://schemas.openxmlformats.org/drawingml/2006/main" w="12700">
            <a:solidFill>
              <a:srgbClr val="3E8B6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46" name="Text 10">
            <a:extLst xmlns:a="http://schemas.openxmlformats.org/drawingml/2006/main">
              <a:ext uri="{FF2B5EF4-FFF2-40B4-BE49-F238E27FC236}">
                <a16:creationId xmlns:a16="http://schemas.microsoft.com/office/drawing/2014/main" id="{EC14B070-B897-402A-A6DA-05A94984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1" y="1786890"/>
            <a:ext cx="731521" cy="3581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b="1">
                <a:solidFill>
                  <a:srgbClr val="1A2733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2</a:t>
            </a:r>
          </a:p>
        </p:txBody>
      </p:sp>
      <p:sp>
        <p:nvSpPr>
          <p:cNvPr id="47" name="Text 11">
            <a:extLst xmlns:a="http://schemas.openxmlformats.org/drawingml/2006/main">
              <a:ext uri="{FF2B5EF4-FFF2-40B4-BE49-F238E27FC236}">
                <a16:creationId xmlns:a16="http://schemas.microsoft.com/office/drawing/2014/main" id="{5ACAFCAF-8873-4B69-82BD-3C06416F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1" y="2387600"/>
            <a:ext cx="3108961" cy="254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700" b="1">
                <a:solidFill>
                  <a:srgbClr val="1A2733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What we output</a:t>
            </a:r>
          </a:p>
        </p:txBody>
      </p:sp>
      <p:sp>
        <p:nvSpPr>
          <p:cNvPr id="48" name="Text 12">
            <a:extLst xmlns:a="http://schemas.openxmlformats.org/drawingml/2006/main">
              <a:ext uri="{FF2B5EF4-FFF2-40B4-BE49-F238E27FC236}">
                <a16:creationId xmlns:a16="http://schemas.microsoft.com/office/drawing/2014/main" id="{C2FC2575-CDF6-470B-BFCA-9E0A86DA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1" y="2788920"/>
            <a:ext cx="3108961" cy="5441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2000"/>
              </a:lnSpc>
              <a:buNone/>
              <a:defRPr sz="1200">
                <a:solidFill>
                  <a:srgbClr val="34424E"/>
                </a:solidFill>
              </a:defRPr>
            </a:lvl1pPr>
          </a:lstStyle>
          <a:p xmlns:a="http://schemas.openxmlformats.org/drawingml/2006/main">
            <a:r>
              <a:t>Per-frame step labels collapsed into an ordered timeline, plus a correct / incorrect / missing judgment per step.</a:t>
            </a:r>
          </a:p>
        </p:txBody>
      </p:sp>
      <p:sp>
        <p:nvSpPr>
          <p:cNvPr id="49" name="Text 13">
            <a:extLst xmlns:a="http://schemas.openxmlformats.org/drawingml/2006/main">
              <a:ext uri="{FF2B5EF4-FFF2-40B4-BE49-F238E27FC236}">
                <a16:creationId xmlns:a16="http://schemas.microsoft.com/office/drawing/2014/main" id="{F525A527-F36C-48FE-86C5-1BCD8BEA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1" y="4093386"/>
            <a:ext cx="3108961" cy="13426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 i="1">
                <a:solidFill>
                  <a:srgbClr val="3E8B60"/>
                </a:solidFill>
              </a:defRPr>
            </a:lvl1pPr>
          </a:lstStyle>
          <a:p xmlns:a="http://schemas.openxmlformats.org/drawingml/2006/main">
            <a:r>
              <a:t>step timeline + outcome + verdict</a:t>
            </a:r>
          </a:p>
        </p:txBody>
      </p:sp>
      <p:sp>
        <p:nvSpPr>
          <p:cNvPr id="50" name="Shape 14">
            <a:extLst xmlns:a="http://schemas.openxmlformats.org/drawingml/2006/main">
              <a:ext uri="{FF2B5EF4-FFF2-40B4-BE49-F238E27FC236}">
                <a16:creationId xmlns:a16="http://schemas.microsoft.com/office/drawing/2014/main" id="{E440B413-C57F-4EF8-9BC8-564A6251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1463039"/>
            <a:ext cx="3611881" cy="3017522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2700">
            <a:solidFill>
              <a:srgbClr val="DCE4EB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51" name="Shape 15">
            <a:extLst xmlns:a="http://schemas.openxmlformats.org/drawingml/2006/main">
              <a:ext uri="{FF2B5EF4-FFF2-40B4-BE49-F238E27FC236}">
                <a16:creationId xmlns:a16="http://schemas.microsoft.com/office/drawing/2014/main" id="{829303D3-1FA8-4ECF-B434-43ED205A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1737360"/>
            <a:ext cx="822961" cy="457201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6D9B0"/>
          </a:solidFill>
          <a:ln xmlns:a="http://schemas.openxmlformats.org/drawingml/2006/main" w="12700">
            <a:solidFill>
              <a:srgbClr val="C98A3C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52" name="Text 16">
            <a:extLst xmlns:a="http://schemas.openxmlformats.org/drawingml/2006/main">
              <a:ext uri="{FF2B5EF4-FFF2-40B4-BE49-F238E27FC236}">
                <a16:creationId xmlns:a16="http://schemas.microsoft.com/office/drawing/2014/main" id="{3C390C8E-0C14-4715-931F-61E2B471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1786890"/>
            <a:ext cx="731521" cy="3581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b="1">
                <a:solidFill>
                  <a:srgbClr val="1A2733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3</a:t>
            </a:r>
          </a:p>
        </p:txBody>
      </p:sp>
      <p:sp>
        <p:nvSpPr>
          <p:cNvPr id="53" name="Text 17">
            <a:extLst xmlns:a="http://schemas.openxmlformats.org/drawingml/2006/main">
              <a:ext uri="{FF2B5EF4-FFF2-40B4-BE49-F238E27FC236}">
                <a16:creationId xmlns:a16="http://schemas.microsoft.com/office/drawing/2014/main" id="{50A37F4A-5049-4466-BD96-4063F78E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387600"/>
            <a:ext cx="3108961" cy="2540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700" b="1">
                <a:solidFill>
                  <a:srgbClr val="1A2733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Why it is hard</a:t>
            </a:r>
          </a:p>
        </p:txBody>
      </p:sp>
      <p:sp>
        <p:nvSpPr>
          <p:cNvPr id="54" name="Text 18">
            <a:extLst xmlns:a="http://schemas.openxmlformats.org/drawingml/2006/main">
              <a:ext uri="{FF2B5EF4-FFF2-40B4-BE49-F238E27FC236}">
                <a16:creationId xmlns:a16="http://schemas.microsoft.com/office/drawing/2014/main" id="{84D399BB-9CF0-42C3-B64C-95F54856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788920"/>
            <a:ext cx="3108961" cy="35050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lnSpc>
                <a:spcPct val="102000"/>
              </a:lnSpc>
              <a:buNone/>
              <a:defRPr sz="1200">
                <a:solidFill>
                  <a:srgbClr val="34424E"/>
                </a:solidFill>
              </a:defRPr>
            </a:lvl1pPr>
          </a:lstStyle>
          <a:p xmlns:a="http://schemas.openxmlformats.org/drawingml/2006/main">
            <a:r>
              <a:t>Fine-grained steps, egocentric motion and hand occlusion, and only a small annotated training set.</a:t>
            </a:r>
          </a:p>
        </p:txBody>
      </p:sp>
      <p:sp>
        <p:nvSpPr>
          <p:cNvPr id="55" name="Text 19">
            <a:extLst xmlns:a="http://schemas.openxmlformats.org/drawingml/2006/main">
              <a:ext uri="{FF2B5EF4-FFF2-40B4-BE49-F238E27FC236}">
                <a16:creationId xmlns:a16="http://schemas.microsoft.com/office/drawing/2014/main" id="{B52FAAB3-46A5-49D2-B8F5-D7844A2F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4093386"/>
            <a:ext cx="3108961" cy="13426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 i="1">
                <a:solidFill>
                  <a:srgbClr val="C98A3C"/>
                </a:solidFill>
              </a:defRPr>
            </a:lvl1pPr>
          </a:lstStyle>
          <a:p xmlns:a="http://schemas.openxmlformats.org/drawingml/2006/main">
            <a:r>
              <a:t>36 train recordings</a:t>
            </a:r>
          </a:p>
        </p:txBody>
      </p:sp>
      <p:sp>
        <p:nvSpPr>
          <p:cNvPr id="56" name="Text 20">
            <a:extLst xmlns:a="http://schemas.openxmlformats.org/drawingml/2006/main">
              <a:ext uri="{FF2B5EF4-FFF2-40B4-BE49-F238E27FC236}">
                <a16:creationId xmlns:a16="http://schemas.microsoft.com/office/drawing/2014/main" id="{F62F97AA-86F6-44CC-89AC-601D37DE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5133647"/>
            <a:ext cx="11155682" cy="15686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200" i="1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The compliance angle is what makes this more than plain action segmentation: the system must catch a wrong or skipped step, not just name the current one.</a:t>
            </a:r>
          </a:p>
        </p:txBody>
      </p:sp>
      <p:sp>
        <p:nvSpPr>
          <p:cNvPr id="57" name="Text 21">
            <a:extLst xmlns:a="http://schemas.openxmlformats.org/drawingml/2006/main">
              <a:ext uri="{FF2B5EF4-FFF2-40B4-BE49-F238E27FC236}">
                <a16:creationId xmlns:a16="http://schemas.microsoft.com/office/drawing/2014/main" id="{8E026E34-E388-49A3-BFB4-5C03B65E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6508155"/>
            <a:ext cx="7223762" cy="20591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IndustReal — Procedure Step Recognition</a:t>
            </a:r>
          </a:p>
        </p:txBody>
      </p:sp>
      <p:sp>
        <p:nvSpPr>
          <p:cNvPr id="58" name="Text 22">
            <a:extLst xmlns:a="http://schemas.openxmlformats.org/drawingml/2006/main">
              <a:ext uri="{FF2B5EF4-FFF2-40B4-BE49-F238E27FC236}">
                <a16:creationId xmlns:a16="http://schemas.microsoft.com/office/drawing/2014/main" id="{B72CE2D1-929A-4568-B55B-027932E8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79" y="6508155"/>
            <a:ext cx="274321" cy="20591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r"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142262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Text 0">
            <a:extLst xmlns:a="http://schemas.openxmlformats.org/drawingml/2006/main">
              <a:ext uri="{FF2B5EF4-FFF2-40B4-BE49-F238E27FC236}">
                <a16:creationId xmlns:a16="http://schemas.microsoft.com/office/drawing/2014/main" id="{BB87F7E9-236E-46CB-9BE7-A67C1623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432307"/>
            <a:ext cx="11155682" cy="4114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700" b="1">
                <a:solidFill>
                  <a:srgbClr val="1A2733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The current architecture is solving the wrong abstraction</a:t>
            </a:r>
          </a:p>
        </p:txBody>
      </p:sp>
      <p:sp>
        <p:nvSpPr>
          <p:cNvPr id="152" name="Text 1">
            <a:extLst xmlns:a="http://schemas.openxmlformats.org/drawingml/2006/main">
              <a:ext uri="{FF2B5EF4-FFF2-40B4-BE49-F238E27FC236}">
                <a16:creationId xmlns:a16="http://schemas.microsoft.com/office/drawing/2014/main" id="{C01DCDDD-4A0A-4DD2-992C-3E0B620F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1009327"/>
            <a:ext cx="11155682" cy="1981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300" i="1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The largest gain will come from physical state and procedure belief—not a second giant encoder</a:t>
            </a:r>
          </a:p>
        </p:txBody>
      </p:sp>
      <p:sp>
        <p:nvSpPr>
          <p:cNvPr id="153" name="Shape 2">
            <a:extLst xmlns:a="http://schemas.openxmlformats.org/drawingml/2006/main">
              <a:ext uri="{FF2B5EF4-FFF2-40B4-BE49-F238E27FC236}">
                <a16:creationId xmlns:a16="http://schemas.microsoft.com/office/drawing/2014/main" id="{CF04343D-E295-405A-98A4-256D588A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1463039"/>
            <a:ext cx="5349242" cy="3977642"/>
          </a:xfrm>
          <a:prstGeom xmlns:a="http://schemas.openxmlformats.org/drawingml/2006/main" prst="roundRect">
            <a:avLst>
              <a:gd name="adj" fmla="val 1839"/>
            </a:avLst>
          </a:prstGeom>
          <a:solidFill xmlns:a="http://schemas.openxmlformats.org/drawingml/2006/main">
            <a:srgbClr val="F7E7E6"/>
          </a:solidFill>
          <a:ln xmlns:a="http://schemas.openxmlformats.org/drawingml/2006/main" w="15875">
            <a:solidFill>
              <a:srgbClr val="C0504D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54" name="Text 3">
            <a:extLst xmlns:a="http://schemas.openxmlformats.org/drawingml/2006/main">
              <a:ext uri="{FF2B5EF4-FFF2-40B4-BE49-F238E27FC236}">
                <a16:creationId xmlns:a16="http://schemas.microsoft.com/office/drawing/2014/main" id="{FCFE100B-4BB6-4F90-98CC-BB81332E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39" y="1708150"/>
            <a:ext cx="4846322" cy="2438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600" b="1">
                <a:solidFill>
                  <a:srgbClr val="8A2B27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Root cause</a:t>
            </a:r>
          </a:p>
        </p:txBody>
      </p:sp>
      <p:sp>
        <p:nvSpPr>
          <p:cNvPr id="155" name="Text 4">
            <a:extLst xmlns:a="http://schemas.openxmlformats.org/drawingml/2006/main">
              <a:ext uri="{FF2B5EF4-FFF2-40B4-BE49-F238E27FC236}">
                <a16:creationId xmlns:a16="http://schemas.microsoft.com/office/drawing/2014/main" id="{1ED63AA8-4D42-4A6F-8F19-6E55A782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39" y="2103120"/>
            <a:ext cx="4846322" cy="12631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999"/>
              </a:lnSpc>
              <a:buNone/>
              <a:defRPr sz="1125" b="1">
                <a:solidFill>
                  <a:srgbClr val="5A2320"/>
                </a:solidFill>
              </a:defRPr>
            </a:pPr>
            <a:r>
              <a:rPr sz="1125" b="1">
                <a:solidFill>
                  <a:srgbClr val="5A2320"/>
                </a:solidFill>
              </a:rPr>
              <a:t>A frozen 1B motion encoder + clip classifier + Viterbi can segment familiar motion, but it cannot represent what part, tool or connection changed—or which branches are valid next.</a:t>
            </a:r>
          </a:p>
        </p:txBody>
      </p:sp>
      <p:sp>
        <p:nvSpPr>
          <p:cNvPr id="156" name="Text 5">
            <a:extLst xmlns:a="http://schemas.openxmlformats.org/drawingml/2006/main">
              <a:ext uri="{FF2B5EF4-FFF2-40B4-BE49-F238E27FC236}">
                <a16:creationId xmlns:a16="http://schemas.microsoft.com/office/drawing/2014/main" id="{80FCC897-D16B-4471-9026-32FE654C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39" y="4251959"/>
            <a:ext cx="4846322" cy="477896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4999"/>
              </a:lnSpc>
              <a:buNone/>
              <a:defRPr sz="1200" b="1" i="1">
                <a:solidFill>
                  <a:srgbClr val="6B2B28"/>
                </a:solidFill>
              </a:defRPr>
            </a:pPr>
            <a:r>
              <a:rPr sz="1200" b="1" i="1">
                <a:solidFill>
                  <a:srgbClr val="6B2B28"/>
                </a:solidFill>
              </a:rPr>
              <a:t>Why this matters: the current v2 result is strong offline, yet the causal model drops sharply and incorrect-install recall is approximately zero.</a:t>
            </a:r>
          </a:p>
        </p:txBody>
      </p:sp>
      <p:sp>
        <p:nvSpPr>
          <p:cNvPr id="157" name="Text 6">
            <a:extLst xmlns:a="http://schemas.openxmlformats.org/drawingml/2006/main">
              <a:ext uri="{FF2B5EF4-FFF2-40B4-BE49-F238E27FC236}">
                <a16:creationId xmlns:a16="http://schemas.microsoft.com/office/drawing/2014/main" id="{FB58FDF1-B047-40C0-9D02-E73B47DB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79" y="1537969"/>
            <a:ext cx="5532121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1A2733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Four architectural gaps</a:t>
            </a:r>
          </a:p>
        </p:txBody>
      </p:sp>
      <p:sp>
        <p:nvSpPr>
          <p:cNvPr id="158" name="Shape 7">
            <a:extLst xmlns:a="http://schemas.openxmlformats.org/drawingml/2006/main">
              <a:ext uri="{FF2B5EF4-FFF2-40B4-BE49-F238E27FC236}">
                <a16:creationId xmlns:a16="http://schemas.microsoft.com/office/drawing/2014/main" id="{60550DDA-8A90-4059-9EEE-502C6E50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79" y="1920239"/>
            <a:ext cx="5532121" cy="841249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2700">
            <a:solidFill>
              <a:srgbClr val="DCE4EB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59" name="Shape 8">
            <a:extLst xmlns:a="http://schemas.openxmlformats.org/drawingml/2006/main">
              <a:ext uri="{FF2B5EF4-FFF2-40B4-BE49-F238E27FC236}">
                <a16:creationId xmlns:a16="http://schemas.microsoft.com/office/drawing/2014/main" id="{7443BB08-576B-4655-B300-C9E43192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7" y="2139695"/>
            <a:ext cx="402337" cy="4023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12700">
            <a:solidFill>
              <a:srgbClr val="D98B3A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60" name="Text 9">
            <a:extLst xmlns:a="http://schemas.openxmlformats.org/drawingml/2006/main">
              <a:ext uri="{FF2B5EF4-FFF2-40B4-BE49-F238E27FC236}">
                <a16:creationId xmlns:a16="http://schemas.microsoft.com/office/drawing/2014/main" id="{D4185AAB-EDF7-453B-AD4B-2D584FBF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7" y="2187193"/>
            <a:ext cx="310897" cy="5486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rgbClr val="3A2410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01</a:t>
            </a:r>
          </a:p>
        </p:txBody>
      </p:sp>
      <p:sp>
        <p:nvSpPr>
          <p:cNvPr id="161" name="Text 10">
            <a:extLst xmlns:a="http://schemas.openxmlformats.org/drawingml/2006/main">
              <a:ext uri="{FF2B5EF4-FFF2-40B4-BE49-F238E27FC236}">
                <a16:creationId xmlns:a16="http://schemas.microsoft.com/office/drawing/2014/main" id="{D4D8A7DE-64AB-47FE-9207-2DD1D78B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19" y="2172130"/>
            <a:ext cx="4572001" cy="533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A2733"/>
                </a:solidFill>
              </a:defRPr>
            </a:pPr>
            <a:r>
              <a:rPr sz="1125" b="1">
                <a:solidFill>
                  <a:srgbClr val="1A2733"/>
                </a:solidFill>
              </a:rPr>
              <a:t>Motion is not state</a:t>
            </a:r>
          </a:p>
          <a:p xmlns:a="http://schemas.openxmlformats.org/drawingml/2006/main">
            <a:pPr>
              <a:buNone/>
              <a:defRPr sz="1125">
                <a:solidFill>
                  <a:srgbClr val="5B6B78"/>
                </a:solidFill>
              </a:defRPr>
            </a:pPr>
            <a:r>
              <a:rPr sz="1125">
                <a:solidFill>
                  <a:srgbClr val="5B6B78"/>
                </a:solidFill>
              </a:rPr>
              <a:t>The same hand motion can seat the correct part, the wrong part or nothing at all.</a:t>
            </a:r>
          </a:p>
        </p:txBody>
      </p:sp>
      <p:sp>
        <p:nvSpPr>
          <p:cNvPr id="162" name="Shape 11">
            <a:extLst xmlns:a="http://schemas.openxmlformats.org/drawingml/2006/main">
              <a:ext uri="{FF2B5EF4-FFF2-40B4-BE49-F238E27FC236}">
                <a16:creationId xmlns:a16="http://schemas.microsoft.com/office/drawing/2014/main" id="{3FBE9D0F-D0D1-4BB0-A697-9B98C410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79" y="2889504"/>
            <a:ext cx="5532121" cy="841249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2700">
            <a:solidFill>
              <a:srgbClr val="DCE4EB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63" name="Shape 12">
            <a:extLst xmlns:a="http://schemas.openxmlformats.org/drawingml/2006/main">
              <a:ext uri="{FF2B5EF4-FFF2-40B4-BE49-F238E27FC236}">
                <a16:creationId xmlns:a16="http://schemas.microsoft.com/office/drawing/2014/main" id="{C00B0FF0-BA60-40FB-AD1B-BC236D8D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7" y="3108960"/>
            <a:ext cx="402337" cy="4023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12700">
            <a:solidFill>
              <a:srgbClr val="D98B3A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64" name="Text 13">
            <a:extLst xmlns:a="http://schemas.openxmlformats.org/drawingml/2006/main">
              <a:ext uri="{FF2B5EF4-FFF2-40B4-BE49-F238E27FC236}">
                <a16:creationId xmlns:a16="http://schemas.microsoft.com/office/drawing/2014/main" id="{59634D84-E023-42F8-AE82-8F705F98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7" y="3156458"/>
            <a:ext cx="310897" cy="5486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rgbClr val="3A2410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02</a:t>
            </a:r>
          </a:p>
        </p:txBody>
      </p:sp>
      <p:sp>
        <p:nvSpPr>
          <p:cNvPr id="165" name="Text 14">
            <a:extLst xmlns:a="http://schemas.openxmlformats.org/drawingml/2006/main">
              <a:ext uri="{FF2B5EF4-FFF2-40B4-BE49-F238E27FC236}">
                <a16:creationId xmlns:a16="http://schemas.microsoft.com/office/drawing/2014/main" id="{FD38BA59-50AF-490C-92A7-11C987DB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19" y="3141394"/>
            <a:ext cx="4572001" cy="3657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A2733"/>
                </a:solidFill>
              </a:defRPr>
            </a:pPr>
            <a:r>
              <a:rPr sz="1125" b="1">
                <a:solidFill>
                  <a:srgbClr val="1A2733"/>
                </a:solidFill>
              </a:rPr>
              <a:t>Linear order is too rigid</a:t>
            </a:r>
          </a:p>
          <a:p xmlns:a="http://schemas.openxmlformats.org/drawingml/2006/main">
            <a:pPr>
              <a:buNone/>
              <a:defRPr sz="1125">
                <a:solidFill>
                  <a:srgbClr val="5B6B78"/>
                </a:solidFill>
              </a:defRPr>
            </a:pPr>
            <a:r>
              <a:rPr sz="1125">
                <a:solidFill>
                  <a:srgbClr val="5B6B78"/>
                </a:solidFill>
              </a:rPr>
              <a:t>Aerospace procedures contain optional, parallel and recovery branches.</a:t>
            </a:r>
          </a:p>
        </p:txBody>
      </p:sp>
      <p:sp>
        <p:nvSpPr>
          <p:cNvPr id="166" name="Shape 15">
            <a:extLst xmlns:a="http://schemas.openxmlformats.org/drawingml/2006/main">
              <a:ext uri="{FF2B5EF4-FFF2-40B4-BE49-F238E27FC236}">
                <a16:creationId xmlns:a16="http://schemas.microsoft.com/office/drawing/2014/main" id="{D0B6C67C-FA63-4E60-A3C1-8B755206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79" y="3858767"/>
            <a:ext cx="5532121" cy="841249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2700">
            <a:solidFill>
              <a:srgbClr val="DCE4EB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67" name="Shape 16">
            <a:extLst xmlns:a="http://schemas.openxmlformats.org/drawingml/2006/main">
              <a:ext uri="{FF2B5EF4-FFF2-40B4-BE49-F238E27FC236}">
                <a16:creationId xmlns:a16="http://schemas.microsoft.com/office/drawing/2014/main" id="{9A4F744B-2454-41F8-AF45-6BD6C90D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7" y="4078223"/>
            <a:ext cx="402337" cy="4023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12700">
            <a:solidFill>
              <a:srgbClr val="D98B3A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68" name="Text 17">
            <a:extLst xmlns:a="http://schemas.openxmlformats.org/drawingml/2006/main">
              <a:ext uri="{FF2B5EF4-FFF2-40B4-BE49-F238E27FC236}">
                <a16:creationId xmlns:a16="http://schemas.microsoft.com/office/drawing/2014/main" id="{D1082E15-8069-4039-A2E9-E4297F7B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7" y="4125721"/>
            <a:ext cx="310897" cy="5486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rgbClr val="3A2410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03</a:t>
            </a:r>
          </a:p>
        </p:txBody>
      </p:sp>
      <p:sp>
        <p:nvSpPr>
          <p:cNvPr id="169" name="Text 18">
            <a:extLst xmlns:a="http://schemas.openxmlformats.org/drawingml/2006/main">
              <a:ext uri="{FF2B5EF4-FFF2-40B4-BE49-F238E27FC236}">
                <a16:creationId xmlns:a16="http://schemas.microsoft.com/office/drawing/2014/main" id="{401B9042-9191-4F53-A08C-4F327EC6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19" y="4110658"/>
            <a:ext cx="4572001" cy="3657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A2733"/>
                </a:solidFill>
              </a:defRPr>
            </a:pPr>
            <a:r>
              <a:rPr sz="1125" b="1">
                <a:solidFill>
                  <a:srgbClr val="1A2733"/>
                </a:solidFill>
              </a:rPr>
              <a:t>Closed-set outcomes miss unseen faults</a:t>
            </a:r>
          </a:p>
          <a:p xmlns:a="http://schemas.openxmlformats.org/drawingml/2006/main">
            <a:pPr>
              <a:buNone/>
              <a:defRPr sz="1125">
                <a:solidFill>
                  <a:srgbClr val="5B6B78"/>
                </a:solidFill>
              </a:defRPr>
            </a:pPr>
            <a:r>
              <a:rPr sz="1125">
                <a:solidFill>
                  <a:srgbClr val="5B6B78"/>
                </a:solidFill>
              </a:rPr>
              <a:t>A safe system must preserve an UNKNOWN / escalate decision.</a:t>
            </a:r>
          </a:p>
        </p:txBody>
      </p:sp>
      <p:sp>
        <p:nvSpPr>
          <p:cNvPr id="170" name="Shape 19">
            <a:extLst xmlns:a="http://schemas.openxmlformats.org/drawingml/2006/main">
              <a:ext uri="{FF2B5EF4-FFF2-40B4-BE49-F238E27FC236}">
                <a16:creationId xmlns:a16="http://schemas.microsoft.com/office/drawing/2014/main" id="{853A1390-0861-496E-B159-3A092706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79" y="4828032"/>
            <a:ext cx="5532121" cy="841249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2700">
            <a:solidFill>
              <a:srgbClr val="DCE4EB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71" name="Shape 20">
            <a:extLst xmlns:a="http://schemas.openxmlformats.org/drawingml/2006/main">
              <a:ext uri="{FF2B5EF4-FFF2-40B4-BE49-F238E27FC236}">
                <a16:creationId xmlns:a16="http://schemas.microsoft.com/office/drawing/2014/main" id="{122350DD-FF46-4664-9F57-D3884C8D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7" y="5047488"/>
            <a:ext cx="402337" cy="4023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12700">
            <a:solidFill>
              <a:srgbClr val="D98B3A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72" name="Text 21">
            <a:extLst xmlns:a="http://schemas.openxmlformats.org/drawingml/2006/main">
              <a:ext uri="{FF2B5EF4-FFF2-40B4-BE49-F238E27FC236}">
                <a16:creationId xmlns:a16="http://schemas.microsoft.com/office/drawing/2014/main" id="{9E740D74-836F-4935-9948-0880D606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7" y="5094986"/>
            <a:ext cx="310897" cy="5486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rgbClr val="3A2410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04</a:t>
            </a:r>
          </a:p>
        </p:txBody>
      </p:sp>
      <p:sp>
        <p:nvSpPr>
          <p:cNvPr id="173" name="Text 22">
            <a:extLst xmlns:a="http://schemas.openxmlformats.org/drawingml/2006/main">
              <a:ext uri="{FF2B5EF4-FFF2-40B4-BE49-F238E27FC236}">
                <a16:creationId xmlns:a16="http://schemas.microsoft.com/office/drawing/2014/main" id="{52C55013-43E6-41DA-AEF3-87363606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19" y="5079922"/>
            <a:ext cx="4572001" cy="3657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A2733"/>
                </a:solidFill>
              </a:defRPr>
            </a:pPr>
            <a:r>
              <a:rPr sz="1125" b="1">
                <a:solidFill>
                  <a:srgbClr val="1A2733"/>
                </a:solidFill>
              </a:rPr>
              <a:t>No future or recovery model</a:t>
            </a:r>
          </a:p>
          <a:p xmlns:a="http://schemas.openxmlformats.org/drawingml/2006/main">
            <a:pPr>
              <a:buNone/>
              <a:defRPr sz="1125">
                <a:solidFill>
                  <a:srgbClr val="5B6B78"/>
                </a:solidFill>
              </a:defRPr>
            </a:pPr>
            <a:r>
              <a:rPr sz="1125">
                <a:solidFill>
                  <a:srgbClr val="5B6B78"/>
                </a:solidFill>
              </a:rPr>
              <a:t>Detection alone cannot return the assembly to a verified state.</a:t>
            </a:r>
          </a:p>
        </p:txBody>
      </p:sp>
      <p:sp>
        <p:nvSpPr>
          <p:cNvPr id="174" name="Text 23">
            <a:extLst xmlns:a="http://schemas.openxmlformats.org/drawingml/2006/main">
              <a:ext uri="{FF2B5EF4-FFF2-40B4-BE49-F238E27FC236}">
                <a16:creationId xmlns:a16="http://schemas.microsoft.com/office/drawing/2014/main" id="{A1A2681A-EB23-4877-A279-F759CAE6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6508155"/>
            <a:ext cx="7223762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IndustReal — Procedure Intelligence Architecture</a:t>
            </a:r>
          </a:p>
        </p:txBody>
      </p:sp>
      <p:sp>
        <p:nvSpPr>
          <p:cNvPr id="175" name="Text 24">
            <a:extLst xmlns:a="http://schemas.openxmlformats.org/drawingml/2006/main">
              <a:ext uri="{FF2B5EF4-FFF2-40B4-BE49-F238E27FC236}">
                <a16:creationId xmlns:a16="http://schemas.microsoft.com/office/drawing/2014/main" id="{9C697D70-27CE-4A2E-8636-631B4E3E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79" y="6508155"/>
            <a:ext cx="274321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r"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87232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B8C311F-7253-4AED-9701-7FC0708C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384209-CB15-4CDF-9D31-C44FD9A3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>
            <a:off x="2666617" y="-2666188"/>
            <a:ext cx="6858000" cy="1219123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633B3B5-CC90-43F0-8714-D31D1F3F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-2311" y="0"/>
            <a:ext cx="9070846" cy="685757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8D57A06-A426-446D-B02C-A2DC6B62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>
            <a:off x="3649491" y="-1685840"/>
            <a:ext cx="4894564" cy="1219354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ee7bfb7ca49aa">
            <a:extLst>
              <a:ext uri="{96DAC541-7B7A-43D3-8B79-37D633B846F1}">
                <asvg:svgBlip xmlns:asvg="http://schemas.microsoft.com/office/drawing/2016/SVG/main" r:embed="Rdb8aa5ebea914b55"/>
              </a:ext>
            </a:extLst>
          </a:blip>
          <a:srcRect xmlns:a="http://schemas.openxmlformats.org/drawingml/2006/main" l="0" t="6306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57200" y="457200"/>
            <a:ext cx="11277600" cy="59436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3ce373f164d73">
            <a:extLst>
              <a:ext uri="{96DAC541-7B7A-43D3-8B79-37D633B846F1}">
                <asvg:svgBlip xmlns:asvg="http://schemas.microsoft.com/office/drawing/2016/SVG/main" r:embed="Rdeb0bec4d7034fc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84933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Text 0">
            <a:extLst xmlns:a="http://schemas.openxmlformats.org/drawingml/2006/main">
              <a:ext uri="{FF2B5EF4-FFF2-40B4-BE49-F238E27FC236}">
                <a16:creationId xmlns:a16="http://schemas.microsoft.com/office/drawing/2014/main" id="{317F70A5-7AE0-4FDC-B39F-4B125D8A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432307"/>
            <a:ext cx="11155682" cy="4114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700" b="1">
                <a:solidFill>
                  <a:srgbClr val="1A2733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Candidate A fits one 24 GB GPU</a:t>
            </a:r>
          </a:p>
        </p:txBody>
      </p:sp>
      <p:sp>
        <p:nvSpPr>
          <p:cNvPr id="63" name="Text 1">
            <a:extLst xmlns:a="http://schemas.openxmlformats.org/drawingml/2006/main">
              <a:ext uri="{FF2B5EF4-FFF2-40B4-BE49-F238E27FC236}">
                <a16:creationId xmlns:a16="http://schemas.microsoft.com/office/drawing/2014/main" id="{D8AF8E1A-19E7-4DA9-BAB2-B726C0C9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1009327"/>
            <a:ext cx="11155682" cy="1981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300" i="1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Freeze/cache perception first; train compact state, temporal and graph modules</a:t>
            </a:r>
          </a:p>
        </p:txBody>
      </p:sp>
      <p:pic>
        <p:nvPicPr>
          <p:cNvPr id="8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d51a584134f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40080" y="1234439"/>
            <a:ext cx="4401147" cy="507492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5" name="Shape 2">
            <a:extLst xmlns:a="http://schemas.openxmlformats.org/drawingml/2006/main">
              <a:ext uri="{FF2B5EF4-FFF2-40B4-BE49-F238E27FC236}">
                <a16:creationId xmlns:a16="http://schemas.microsoft.com/office/drawing/2014/main" id="{4575A84B-2757-40AA-B484-3D0EE2C2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146" y="1371600"/>
            <a:ext cx="6068734" cy="1078992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2700">
            <a:solidFill>
              <a:srgbClr val="DCE4EB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66" name="Shape 3">
            <a:extLst xmlns:a="http://schemas.openxmlformats.org/drawingml/2006/main">
              <a:ext uri="{FF2B5EF4-FFF2-40B4-BE49-F238E27FC236}">
                <a16:creationId xmlns:a16="http://schemas.microsoft.com/office/drawing/2014/main" id="{CA736C1F-A881-4948-A80A-AE5CA352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314" y="1591055"/>
            <a:ext cx="310897" cy="640082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CFE0F0"/>
          </a:solidFill>
          <a:ln xmlns:a="http://schemas.openxmlformats.org/drawingml/2006/main" w="12700">
            <a:solidFill>
              <a:srgbClr val="3E6E96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67" name="Text 4">
            <a:extLst xmlns:a="http://schemas.openxmlformats.org/drawingml/2006/main">
              <a:ext uri="{FF2B5EF4-FFF2-40B4-BE49-F238E27FC236}">
                <a16:creationId xmlns:a16="http://schemas.microsoft.com/office/drawing/2014/main" id="{8DA08226-FE6D-47E0-AB77-CDAAA2C5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2514" y="1527682"/>
            <a:ext cx="5200054" cy="76682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125" b="1">
                <a:solidFill>
                  <a:srgbClr val="1A2733"/>
                </a:solidFill>
              </a:defRPr>
            </a:pPr>
            <a:r>
              <a:rPr sz="1125" b="1">
                <a:solidFill>
                  <a:srgbClr val="1A2733"/>
                </a:solidFill>
              </a:rPr>
              <a:t>Adaptable video backbone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125" b="1">
                <a:solidFill>
                  <a:srgbClr val="1A2733"/>
                </a:solidFill>
              </a:defRPr>
            </a:pPr>
            <a:r>
              <a:rPr sz="1125" b="1">
                <a:solidFill>
                  <a:srgbClr val="1A2733"/>
                </a:solidFill>
              </a:rPr>
              <a:t>VideoMAEv2-B/L or V-JEPA 2.1; freeze, then tune late blocks with adapters/LoRA. 16 frames at 224p, ~0.5 s stride.</a:t>
            </a:r>
          </a:p>
        </p:txBody>
      </p:sp>
      <p:sp>
        <p:nvSpPr>
          <p:cNvPr id="68" name="Shape 5">
            <a:extLst xmlns:a="http://schemas.openxmlformats.org/drawingml/2006/main">
              <a:ext uri="{FF2B5EF4-FFF2-40B4-BE49-F238E27FC236}">
                <a16:creationId xmlns:a16="http://schemas.microsoft.com/office/drawing/2014/main" id="{A8B8DC92-7E4C-4B0F-9395-0783D034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146" y="2596895"/>
            <a:ext cx="6068734" cy="1078993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2700">
            <a:solidFill>
              <a:srgbClr val="DCE4EB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69" name="Shape 6">
            <a:extLst xmlns:a="http://schemas.openxmlformats.org/drawingml/2006/main">
              <a:ext uri="{FF2B5EF4-FFF2-40B4-BE49-F238E27FC236}">
                <a16:creationId xmlns:a16="http://schemas.microsoft.com/office/drawing/2014/main" id="{AE56E2B1-8CEA-4578-9809-8DAFEE84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314" y="2816351"/>
            <a:ext cx="310897" cy="640081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6D9B0"/>
          </a:solidFill>
          <a:ln xmlns:a="http://schemas.openxmlformats.org/drawingml/2006/main" w="12700">
            <a:solidFill>
              <a:srgbClr val="C98A3C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70" name="Text 7">
            <a:extLst xmlns:a="http://schemas.openxmlformats.org/drawingml/2006/main">
              <a:ext uri="{FF2B5EF4-FFF2-40B4-BE49-F238E27FC236}">
                <a16:creationId xmlns:a16="http://schemas.microsoft.com/office/drawing/2014/main" id="{E88845C9-1A87-4A58-B7A6-A0F26334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2514" y="2752978"/>
            <a:ext cx="5200054" cy="76682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125" b="1">
                <a:solidFill>
                  <a:srgbClr val="1A2733"/>
                </a:solidFill>
              </a:defRPr>
            </a:pPr>
            <a:r>
              <a:rPr sz="1125" b="1">
                <a:solidFill>
                  <a:srgbClr val="1A2733"/>
                </a:solidFill>
              </a:rPr>
              <a:t>State branch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125" b="1">
                <a:solidFill>
                  <a:srgbClr val="1A2733"/>
                </a:solidFill>
              </a:defRPr>
            </a:pPr>
            <a:r>
              <a:rPr sz="1125" b="1">
                <a:solidFill>
                  <a:srgbClr val="1A2733"/>
                </a:solidFill>
              </a:rPr>
              <a:t>Detect hands, tools, parts and targets; form a dynamic relation graph; bootstrap with CAD synthetic views and real ROIs.</a:t>
            </a:r>
          </a:p>
        </p:txBody>
      </p:sp>
      <p:sp>
        <p:nvSpPr>
          <p:cNvPr id="71" name="Shape 8">
            <a:extLst xmlns:a="http://schemas.openxmlformats.org/drawingml/2006/main">
              <a:ext uri="{FF2B5EF4-FFF2-40B4-BE49-F238E27FC236}">
                <a16:creationId xmlns:a16="http://schemas.microsoft.com/office/drawing/2014/main" id="{10FBD2DB-7228-40E4-B527-165F59D2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146" y="3822191"/>
            <a:ext cx="6068734" cy="1078993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2700">
            <a:solidFill>
              <a:srgbClr val="DCE4EB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72" name="Shape 9">
            <a:extLst xmlns:a="http://schemas.openxmlformats.org/drawingml/2006/main">
              <a:ext uri="{FF2B5EF4-FFF2-40B4-BE49-F238E27FC236}">
                <a16:creationId xmlns:a16="http://schemas.microsoft.com/office/drawing/2014/main" id="{91237C5B-383C-471D-BFB5-43D41BE8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314" y="4041647"/>
            <a:ext cx="310897" cy="640081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0CFF0"/>
          </a:solidFill>
          <a:ln xmlns:a="http://schemas.openxmlformats.org/drawingml/2006/main" w="12700">
            <a:solidFill>
              <a:srgbClr val="8A5BB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73" name="Text 10">
            <a:extLst xmlns:a="http://schemas.openxmlformats.org/drawingml/2006/main">
              <a:ext uri="{FF2B5EF4-FFF2-40B4-BE49-F238E27FC236}">
                <a16:creationId xmlns:a16="http://schemas.microsoft.com/office/drawing/2014/main" id="{1C1133DA-FD01-464A-85FD-01359F80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2514" y="4062166"/>
            <a:ext cx="5200054" cy="65288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125" b="1">
                <a:solidFill>
                  <a:srgbClr val="1A2733"/>
                </a:solidFill>
              </a:defRPr>
            </a:pPr>
            <a:r>
              <a:rPr sz="1125" b="1">
                <a:solidFill>
                  <a:srgbClr val="1A2733"/>
                </a:solidFill>
              </a:rPr>
              <a:t>Streaming core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125" b="1">
                <a:solidFill>
                  <a:srgbClr val="1A2733"/>
                </a:solidFill>
              </a:defRPr>
            </a:pPr>
            <a:r>
              <a:rPr sz="1125" b="1">
                <a:solidFill>
                  <a:srgbClr val="1A2733"/>
                </a:solidFill>
              </a:rPr>
              <a:t>Causal FACT-lite + branching task-graph belief + state-delta tokens. Cached features keep the trainable path compact.</a:t>
            </a:r>
          </a:p>
        </p:txBody>
      </p:sp>
      <p:sp>
        <p:nvSpPr>
          <p:cNvPr id="74" name="Shape 11">
            <a:extLst xmlns:a="http://schemas.openxmlformats.org/drawingml/2006/main">
              <a:ext uri="{FF2B5EF4-FFF2-40B4-BE49-F238E27FC236}">
                <a16:creationId xmlns:a16="http://schemas.microsoft.com/office/drawing/2014/main" id="{C4B624A1-3C96-4361-B090-CF21AEF3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146" y="5047488"/>
            <a:ext cx="6068734" cy="1078993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2700">
            <a:solidFill>
              <a:srgbClr val="DCE4EB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75" name="Shape 12">
            <a:extLst xmlns:a="http://schemas.openxmlformats.org/drawingml/2006/main">
              <a:ext uri="{FF2B5EF4-FFF2-40B4-BE49-F238E27FC236}">
                <a16:creationId xmlns:a16="http://schemas.microsoft.com/office/drawing/2014/main" id="{2D96E506-858F-46AA-A568-2DCD117F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314" y="5266944"/>
            <a:ext cx="310897" cy="640081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CDE9D6"/>
          </a:solidFill>
          <a:ln xmlns:a="http://schemas.openxmlformats.org/drawingml/2006/main" w="12700">
            <a:solidFill>
              <a:srgbClr val="3E8B6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76" name="Text 13">
            <a:extLst xmlns:a="http://schemas.openxmlformats.org/drawingml/2006/main">
              <a:ext uri="{FF2B5EF4-FFF2-40B4-BE49-F238E27FC236}">
                <a16:creationId xmlns:a16="http://schemas.microsoft.com/office/drawing/2014/main" id="{F1DA334D-14D5-4D4E-AB88-62966006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2514" y="5287462"/>
            <a:ext cx="5200054" cy="65288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125" b="1">
                <a:solidFill>
                  <a:srgbClr val="1A2733"/>
                </a:solidFill>
              </a:defRPr>
            </a:pPr>
            <a:r>
              <a:rPr sz="1125" b="1">
                <a:solidFill>
                  <a:srgbClr val="1A2733"/>
                </a:solidFill>
              </a:rPr>
              <a:t>Live outputs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125" b="1">
                <a:solidFill>
                  <a:srgbClr val="1A2733"/>
                </a:solidFill>
              </a:defRPr>
            </a:pPr>
            <a:r>
              <a:rPr sz="1125" b="1">
                <a:solidFill>
                  <a:srgbClr val="1A2733"/>
                </a:solidFill>
              </a:rPr>
              <a:t>Step, completion, state delta, mistake type / UNKNOWN, PNR, evidence region, uncertainty and approved recovery.</a:t>
            </a:r>
          </a:p>
        </p:txBody>
      </p:sp>
      <p:sp>
        <p:nvSpPr>
          <p:cNvPr id="77" name="Text 14">
            <a:extLst xmlns:a="http://schemas.openxmlformats.org/drawingml/2006/main">
              <a:ext uri="{FF2B5EF4-FFF2-40B4-BE49-F238E27FC236}">
                <a16:creationId xmlns:a16="http://schemas.microsoft.com/office/drawing/2014/main" id="{17CB7AB0-3A17-4AD3-BA93-9E653FE5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6508155"/>
            <a:ext cx="7223762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IndustReal — Procedure Intelligence Architecture</a:t>
            </a:r>
          </a:p>
        </p:txBody>
      </p:sp>
      <p:sp>
        <p:nvSpPr>
          <p:cNvPr id="78" name="Text 15">
            <a:extLst xmlns:a="http://schemas.openxmlformats.org/drawingml/2006/main">
              <a:ext uri="{FF2B5EF4-FFF2-40B4-BE49-F238E27FC236}">
                <a16:creationId xmlns:a16="http://schemas.microsoft.com/office/drawing/2014/main" id="{0E7A5B55-F6FA-4EEF-9BCA-DDE2BB5E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79" y="6508155"/>
            <a:ext cx="274321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r"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363260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B8C311F-7253-4AED-9701-7FC0708C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384209-CB15-4CDF-9D31-C44FD9A3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>
            <a:off x="2666617" y="-2666188"/>
            <a:ext cx="6858000" cy="1219123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633B3B5-CC90-43F0-8714-D31D1F3F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-2311" y="0"/>
            <a:ext cx="9070846" cy="685757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8D57A06-A426-446D-B02C-A2DC6B62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>
            <a:off x="3649491" y="-1685840"/>
            <a:ext cx="4894564" cy="1219354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b63a080b443a7">
            <a:extLst>
              <a:ext uri="{96DAC541-7B7A-43D3-8B79-37D633B846F1}">
                <asvg:svgBlip xmlns:asvg="http://schemas.microsoft.com/office/drawing/2016/SVG/main" r:embed="Re4a96452137d4fa7"/>
              </a:ext>
            </a:extLst>
          </a:blip>
          <a:srcRect xmlns:a="http://schemas.openxmlformats.org/drawingml/2006/main" l="0" t="6306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57200" y="457200"/>
            <a:ext cx="11277600" cy="59436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dbe0c310040a5">
            <a:extLst>
              <a:ext uri="{96DAC541-7B7A-43D3-8B79-37D633B846F1}">
                <asvg:svgBlip xmlns:asvg="http://schemas.microsoft.com/office/drawing/2016/SVG/main" r:embed="Rda42613c441b4c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84933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Text 0">
            <a:extLst xmlns:a="http://schemas.openxmlformats.org/drawingml/2006/main">
              <a:ext uri="{FF2B5EF4-FFF2-40B4-BE49-F238E27FC236}">
                <a16:creationId xmlns:a16="http://schemas.microsoft.com/office/drawing/2014/main" id="{87B20774-AB69-4EF6-B4D8-0BBF0FAC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432307"/>
            <a:ext cx="11155682" cy="4114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700" b="1">
                <a:solidFill>
                  <a:srgbClr val="1A2733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Candidate B learns procedure context from unlabeled runs</a:t>
            </a:r>
          </a:p>
        </p:txBody>
      </p:sp>
      <p:sp>
        <p:nvSpPr>
          <p:cNvPr id="180" name="Text 1">
            <a:extLst xmlns:a="http://schemas.openxmlformats.org/drawingml/2006/main">
              <a:ext uri="{FF2B5EF4-FFF2-40B4-BE49-F238E27FC236}">
                <a16:creationId xmlns:a16="http://schemas.microsoft.com/office/drawing/2014/main" id="{AD6F3A8B-0140-4141-93CD-4144DAB2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1009327"/>
            <a:ext cx="11155682" cy="1981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300" i="1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P-JEPA is a stronger next step than concatenating two frozen giant encoders</a:t>
            </a:r>
          </a:p>
        </p:txBody>
      </p:sp>
      <p:sp>
        <p:nvSpPr>
          <p:cNvPr id="181" name="Shape 2">
            <a:extLst xmlns:a="http://schemas.openxmlformats.org/drawingml/2006/main">
              <a:ext uri="{FF2B5EF4-FFF2-40B4-BE49-F238E27FC236}">
                <a16:creationId xmlns:a16="http://schemas.microsoft.com/office/drawing/2014/main" id="{56A060F9-E2B5-44C5-AB77-6DB31BAB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800" y="1521775"/>
            <a:ext cx="4160521" cy="3246121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5875">
            <a:solidFill>
              <a:srgbClr val="1C7293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82" name="Text 3">
            <a:extLst xmlns:a="http://schemas.openxmlformats.org/drawingml/2006/main">
              <a:ext uri="{FF2B5EF4-FFF2-40B4-BE49-F238E27FC236}">
                <a16:creationId xmlns:a16="http://schemas.microsoft.com/office/drawing/2014/main" id="{836C339A-8158-4081-905B-00D1F6B1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3832" y="1729293"/>
            <a:ext cx="3648457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1C5266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Why it helps</a:t>
            </a:r>
          </a:p>
        </p:txBody>
      </p:sp>
      <p:sp>
        <p:nvSpPr>
          <p:cNvPr id="183" name="Text 4">
            <a:extLst xmlns:a="http://schemas.openxmlformats.org/drawingml/2006/main">
              <a:ext uri="{FF2B5EF4-FFF2-40B4-BE49-F238E27FC236}">
                <a16:creationId xmlns:a16="http://schemas.microsoft.com/office/drawing/2014/main" id="{FF26C404-0E89-42DC-9DA6-99052F8D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3832" y="2070415"/>
            <a:ext cx="3648457" cy="197081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999"/>
              </a:lnSpc>
              <a:buNone/>
              <a:defRPr sz="1125" b="1">
                <a:solidFill>
                  <a:srgbClr val="2A4C5A"/>
                </a:solidFill>
              </a:defRPr>
            </a:pPr>
            <a:r>
              <a:rPr sz="1125" b="1">
                <a:solidFill>
                  <a:srgbClr val="2A4C5A"/>
                </a:solidFill>
              </a:rPr>
              <a:t>Long-horizon context.</a:t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1125">
                <a:solidFill>
                  <a:srgbClr val="2A4C5A"/>
                </a:solidFill>
              </a:defRPr>
            </a:pPr>
            <a:r>
              <a:rPr sz="1125">
                <a:solidFill>
                  <a:srgbClr val="2A4C5A"/>
                </a:solidFill>
              </a:rPr>
              <a:t>Mask and predict latent segments across complete procedures.</a:t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700">
                <a:solidFill>
                  <a:srgbClr val="2A4C5A"/>
                </a:solidFill>
              </a:defRPr>
            </a:pPr>
            <a:r>
              <a:t/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1125" b="1">
                <a:solidFill>
                  <a:srgbClr val="2A4C5A"/>
                </a:solidFill>
              </a:defRPr>
            </a:pPr>
            <a:r>
              <a:rPr sz="1125" b="1">
                <a:solidFill>
                  <a:srgbClr val="2A4C5A"/>
                </a:solidFill>
              </a:rPr>
              <a:t>Label efficiency.</a:t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1125">
                <a:solidFill>
                  <a:srgbClr val="2A4C5A"/>
                </a:solidFill>
              </a:defRPr>
            </a:pPr>
            <a:r>
              <a:rPr sz="1125">
                <a:solidFill>
                  <a:srgbClr val="2A4C5A"/>
                </a:solidFill>
              </a:rPr>
              <a:t>Pretrain on normal, partial and multi-view recordings before task supervision.</a:t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700">
                <a:solidFill>
                  <a:srgbClr val="2A4C5A"/>
                </a:solidFill>
              </a:defRPr>
            </a:pPr>
            <a:r>
              <a:t/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1125" b="1">
                <a:solidFill>
                  <a:srgbClr val="2A4C5A"/>
                </a:solidFill>
              </a:defRPr>
            </a:pPr>
            <a:r>
              <a:rPr sz="1125" b="1">
                <a:solidFill>
                  <a:srgbClr val="2A4C5A"/>
                </a:solidFill>
              </a:rPr>
              <a:t>State remains explicit.</a:t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1125">
                <a:solidFill>
                  <a:srgbClr val="2A4C5A"/>
                </a:solidFill>
              </a:defRPr>
            </a:pPr>
            <a:r>
              <a:rPr sz="1125">
                <a:solidFill>
                  <a:srgbClr val="2A4C5A"/>
                </a:solidFill>
              </a:rPr>
              <a:t>Keep the relation graph and task graph; P-JEPA supplies progress-aware context.</a:t>
            </a:r>
          </a:p>
        </p:txBody>
      </p:sp>
      <p:sp>
        <p:nvSpPr>
          <p:cNvPr id="184" name="Shape 5">
            <a:extLst xmlns:a="http://schemas.openxmlformats.org/drawingml/2006/main">
              <a:ext uri="{FF2B5EF4-FFF2-40B4-BE49-F238E27FC236}">
                <a16:creationId xmlns:a16="http://schemas.microsoft.com/office/drawing/2014/main" id="{8C35097C-3B42-497A-8E6D-813162EB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5457313"/>
            <a:ext cx="11155682" cy="960121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2700">
            <a:solidFill>
              <a:srgbClr val="DCE4EB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85" name="Text 6">
            <a:extLst xmlns:a="http://schemas.openxmlformats.org/drawingml/2006/main">
              <a:ext uri="{FF2B5EF4-FFF2-40B4-BE49-F238E27FC236}">
                <a16:creationId xmlns:a16="http://schemas.microsoft.com/office/drawing/2014/main" id="{84562D7A-ECE6-4683-BB4D-2AC822B3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5761338"/>
            <a:ext cx="10698481" cy="3767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25" b="1">
                <a:solidFill>
                  <a:srgbClr val="1A2733"/>
                </a:solidFill>
              </a:defRPr>
            </a:pPr>
            <a:r>
              <a:rPr sz="1125" b="1">
                <a:solidFill>
                  <a:srgbClr val="1A2733"/>
                </a:solidFill>
              </a:rPr>
              <a:t>24 GB: cache backbone features and train the contextualizer + heads. Multi-GPU: jointly adapt late video blocks and pretrain across views. Keep the dual-backbone concatenation only as an ablation—it adds semantics but does not solve physical state or procedure structure.</a:t>
            </a:r>
          </a:p>
        </p:txBody>
      </p:sp>
      <p:sp>
        <p:nvSpPr>
          <p:cNvPr id="186" name="Text 7">
            <a:extLst xmlns:a="http://schemas.openxmlformats.org/drawingml/2006/main">
              <a:ext uri="{FF2B5EF4-FFF2-40B4-BE49-F238E27FC236}">
                <a16:creationId xmlns:a16="http://schemas.microsoft.com/office/drawing/2014/main" id="{18A2A43F-89EA-4B19-B931-1EF4E934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6508155"/>
            <a:ext cx="7223762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IndustReal — Procedure Intelligence Architecture</a:t>
            </a:r>
          </a:p>
        </p:txBody>
      </p:sp>
      <p:sp>
        <p:nvSpPr>
          <p:cNvPr id="187" name="Text 8">
            <a:extLst xmlns:a="http://schemas.openxmlformats.org/drawingml/2006/main">
              <a:ext uri="{FF2B5EF4-FFF2-40B4-BE49-F238E27FC236}">
                <a16:creationId xmlns:a16="http://schemas.microsoft.com/office/drawing/2014/main" id="{E34F8E41-137A-4B8E-AB84-F5059B2B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79" y="6508155"/>
            <a:ext cx="274321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r"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17</a:t>
            </a:r>
          </a:p>
        </p:txBody>
      </p:sp>
      <p:pic>
        <p:nvPicPr>
          <p:cNvPr id="199" name="industreal_psr_v3_dual_backbone_conca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45f6597f04e69">
            <a:extLst>
              <a:ext uri="{96DAC541-7B7A-43D3-8B79-37D633B846F1}">
                <asvg:svgBlip xmlns:asvg="http://schemas.microsoft.com/office/drawing/2016/SVG/main" r:embed="Rd8e74f273084474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506730" y="1301404"/>
            <a:ext cx="3843911" cy="4065188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7eb68b46240b8"/>
          <a:stretch xmlns:a="http://schemas.openxmlformats.org/drawingml/2006/main"/>
        </p:blipFill>
        <p:spPr>
          <a:xfrm xmlns:a="http://schemas.openxmlformats.org/drawingml/2006/main">
            <a:off x="1506730" y="1307382"/>
            <a:ext cx="3843911" cy="40532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57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5080A27-9690-4623-8A75-D9E2F578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049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Three candidates create a deliberate accuracy–risk ladder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699AE76-47BD-4DFB-9A5E-9C6E4A07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019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9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t>Build a deterministic specialist core first, add procedural pretraining second, and collaborate with a VLM only on sparse evidence packets.</a:t>
            </a:r>
          </a:p>
        </p:txBody>
      </p:sp>
      <p:sp>
        <p:nvSpPr>
          <p:cNvPr id="3" name="reason-1">
            <a:extLst xmlns:a="http://schemas.openxmlformats.org/drawingml/2006/main">
              <a:ext uri="{FF2B5EF4-FFF2-40B4-BE49-F238E27FC236}">
                <a16:creationId xmlns:a16="http://schemas.microsoft.com/office/drawing/2014/main" id="{02C0AF73-FF87-491D-9FA9-5387A1DF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3352800" cy="44577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ason-2">
            <a:extLst xmlns:a="http://schemas.openxmlformats.org/drawingml/2006/main">
              <a:ext uri="{FF2B5EF4-FFF2-40B4-BE49-F238E27FC236}">
                <a16:creationId xmlns:a16="http://schemas.microsoft.com/office/drawing/2014/main" id="{42AD89FD-1B86-49FD-B640-C57441A5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62100"/>
            <a:ext cx="3352800" cy="44577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ason-3">
            <a:extLst xmlns:a="http://schemas.openxmlformats.org/drawingml/2006/main">
              <a:ext uri="{FF2B5EF4-FFF2-40B4-BE49-F238E27FC236}">
                <a16:creationId xmlns:a16="http://schemas.microsoft.com/office/drawing/2014/main" id="{4D26A84A-0DA1-466E-9430-F150C31C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352800" cy="44577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C4BA686-44D5-4187-B480-8EFBEE37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28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4A11347-DD12-47FB-9D6F-A5B63DCD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StateGraph-PSR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BFA154B-160C-4926-BB0A-9D59437D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857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RECOMMENDED FIRST BUILD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Strong live state tracking, branching procedure belief, explicit errors and auditable recovery.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C72B49C-6ECB-42BF-AC39-E21EB913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90700"/>
            <a:ext cx="428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8A54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273A1AC-1A5F-44A2-BED8-4E9C8483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052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P-JEPA context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AA66F21-459C-4724-A5CE-96E6C844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514850"/>
            <a:ext cx="2857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BEST RESEARCH PATH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Use unlabeled full procedures to learn progress and long-horizon context; cached-feature route fits 24 GB.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6B5128D-469F-49AB-ACD2-D4538BD9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90700"/>
            <a:ext cx="428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3932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46D8660-9B8A-452F-9F89-E15B9AFC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Triggered VLM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4B865F5-4B9A-4A33-9723-B5150773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14850"/>
            <a:ext cx="2857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SEMANTIC ADD-ON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06D"/>
                </a:solidFill>
                <a:latin typeface="Arial"/>
                <a:ea typeface="Arial"/>
                <a:cs typeface="Arial"/>
              </a:rPr>
              <a:t>Adjudicate uncertain or high-impact events and explain evidence; never be the sole continuous alert detector.</a:t>
            </a:r>
          </a:p>
        </p:txBody>
      </p:sp>
      <p:cxnSp>
        <p:nvCxnSpPr>
          <p:cNvPr id="71" name="Straight Arrow Connector 34"/>
          <p:cNvCxnSpPr/>
          <p:nvPr/>
        </p:nvCxnSpPr>
        <p:spPr>
          <a:xfrm xmlns:a="http://schemas.openxmlformats.org/drawingml/2006/main">
            <a:off x="457200" y="64008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E"/>
            </a:solidFill>
            <a:prstDash val="solid"/>
          </a:ln>
        </p:spPr>
      </p:cxnSp>
      <p:pic>
        <p:nvPicPr>
          <p:cNvPr id="72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89910c57c48c2">
            <a:extLst>
              <a:ext uri="{96DAC541-7B7A-43D3-8B79-37D633B846F1}">
                <asvg:svgBlip xmlns:asvg="http://schemas.microsoft.com/office/drawing/2016/SVG/main" r:embed="R82f534a9e10e4558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85800" y="2152650"/>
            <a:ext cx="2895600" cy="1628775"/>
          </a:xfrm>
          <a:prstGeom xmlns:a="http://schemas.openxmlformats.org/drawingml/2006/main" prst="rect">
            <a:avLst/>
          </a:prstGeom>
        </p:spPr>
      </p:pic>
      <p:pic>
        <p:nvPicPr>
          <p:cNvPr id="73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bb5273697481f">
            <a:extLst>
              <a:ext uri="{96DAC541-7B7A-43D3-8B79-37D633B846F1}">
                <asvg:svgBlip xmlns:asvg="http://schemas.microsoft.com/office/drawing/2016/SVG/main" r:embed="R90814f39e0d74646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505325" y="2152650"/>
            <a:ext cx="2895600" cy="1628775"/>
          </a:xfrm>
          <a:prstGeom xmlns:a="http://schemas.openxmlformats.org/drawingml/2006/main" prst="rect">
            <a:avLst/>
          </a:prstGeom>
        </p:spPr>
      </p:pic>
      <p:pic>
        <p:nvPicPr>
          <p:cNvPr id="74" name="Picture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a1b14169e4d75">
            <a:extLst>
              <a:ext uri="{96DAC541-7B7A-43D3-8B79-37D633B846F1}">
                <asvg:svgBlip xmlns:asvg="http://schemas.microsoft.com/office/drawing/2016/SVG/main" r:embed="Re0811131dad24537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324850" y="2152650"/>
            <a:ext cx="2895600" cy="1628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403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EE759D8-A3F9-42F2-8C0C-D02033BF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049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Four label layers turn video into procedure intelligence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7C0B5D6-2095-4AB1-9D39-E2080324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t>Every sample links what moved, what changed, what was allowed and what violated the plan.</a:t>
            </a:r>
          </a:p>
        </p:txBody>
      </p:sp>
      <p:sp>
        <p:nvSpPr>
          <p:cNvPr id="3" name="phase-1">
            <a:extLst xmlns:a="http://schemas.openxmlformats.org/drawingml/2006/main">
              <a:ext uri="{FF2B5EF4-FFF2-40B4-BE49-F238E27FC236}">
                <a16:creationId xmlns:a16="http://schemas.microsoft.com/office/drawing/2014/main" id="{3A662FB5-C17A-4B5F-9BDD-AE187D28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2647950" cy="4048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44D2774-D057-4ABD-B519-51F64F59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9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8CC7A2-1C35-4A79-AD87-0CF4C773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2266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3932"/>
                </a:solidFill>
                <a:latin typeface="Arial"/>
                <a:ea typeface="Arial"/>
                <a:cs typeface="Arial"/>
              </a:defRPr>
            </a:pPr>
            <a:r>
              <a:t>1  ACTION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C278E1A-E2D2-4508-A3B8-3E58D725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22669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Verb + object + target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Temporal interval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Hand / tool / part ROIs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Operator and viewpoint</a:t>
            </a:r>
          </a:p>
        </p:txBody>
      </p:sp>
      <p:sp>
        <p:nvSpPr>
          <p:cNvPr id="7" name="phase-2">
            <a:extLst xmlns:a="http://schemas.openxmlformats.org/drawingml/2006/main">
              <a:ext uri="{FF2B5EF4-FFF2-40B4-BE49-F238E27FC236}">
                <a16:creationId xmlns:a16="http://schemas.microsoft.com/office/drawing/2014/main" id="{369A5013-8270-4688-92D8-9B995D48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647950" cy="4048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7C43024-8C1E-48FB-BD73-1B307FD2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011DA00-4F9F-493D-8798-C012C310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266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  PHASE + EVIDENCE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0070E8E-B73A-4594-BC77-B87159A3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22669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Before / approach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Contact / manipulation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PNR / completion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Effect verification</a:t>
            </a:r>
          </a:p>
        </p:txBody>
      </p:sp>
      <p:sp>
        <p:nvSpPr>
          <p:cNvPr id="11" name="phase-3">
            <a:extLst xmlns:a="http://schemas.openxmlformats.org/drawingml/2006/main">
              <a:ext uri="{FF2B5EF4-FFF2-40B4-BE49-F238E27FC236}">
                <a16:creationId xmlns:a16="http://schemas.microsoft.com/office/drawing/2014/main" id="{824808DF-39B2-4437-9F7C-92B6C2EF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2647950" cy="4048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4A6A5CC-D952-4102-87F0-7C218B22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C8BD74A-7FF4-4980-B5F5-486E2B01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2625"/>
            <a:ext cx="2266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8A54"/>
                </a:solidFill>
                <a:latin typeface="Arial"/>
                <a:ea typeface="Arial"/>
                <a:cs typeface="Arial"/>
              </a:defRPr>
            </a:pPr>
            <a:r>
              <a:t>3  PHYSICAL STATE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8E4E19E-2973-4886-9941-A49FAE75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22669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Part present / selected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Pose / alignment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Connection graph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Torque / count / damage</a:t>
            </a:r>
          </a:p>
        </p:txBody>
      </p:sp>
      <p:sp>
        <p:nvSpPr>
          <p:cNvPr id="15" name="phase-4">
            <a:extLst xmlns:a="http://schemas.openxmlformats.org/drawingml/2006/main">
              <a:ext uri="{FF2B5EF4-FFF2-40B4-BE49-F238E27FC236}">
                <a16:creationId xmlns:a16="http://schemas.microsoft.com/office/drawing/2014/main" id="{A566FD8B-7B2E-4ADC-904C-66377D4B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38300"/>
            <a:ext cx="2647950" cy="4048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A084428-8E50-44E3-9447-7DE8A1A1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3830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E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991D6BF-AB94-4A87-8FEA-A9A3B1FC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52625"/>
            <a:ext cx="2266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4EFF"/>
                </a:solidFill>
                <a:latin typeface="Arial"/>
                <a:ea typeface="Arial"/>
                <a:cs typeface="Arial"/>
              </a:defRPr>
            </a:pPr>
            <a:r>
              <a:t>4  PROCEDURE + ERROR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AC4660E-AEA8-4638-BCFC-B7BAD56B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95550"/>
            <a:ext cx="22669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Valid predecessors / next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Optional + parallel branches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Mistake type / role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Recovery edge + approval</a:t>
            </a:r>
          </a:p>
        </p:txBody>
      </p:sp>
      <p:sp>
        <p:nvSpPr>
          <p:cNvPr id="19" name="timing-band">
            <a:extLst xmlns:a="http://schemas.openxmlformats.org/drawingml/2006/main">
              <a:ext uri="{FF2B5EF4-FFF2-40B4-BE49-F238E27FC236}">
                <a16:creationId xmlns:a16="http://schemas.microsoft.com/office/drawing/2014/main" id="{39C4B37B-EBBF-4E98-ACF6-78B44A81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1277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1D48FB0-742E-432B-AACA-D8CB839A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Store evidence around before, first contact, point of no return and observed effect—not just a single step label.</a:t>
            </a:r>
          </a:p>
        </p:txBody>
      </p:sp>
      <p:cxnSp>
        <p:nvCxnSpPr>
          <p:cNvPr id="86" name="Straight Arrow Connector 43"/>
          <p:cNvCxnSpPr/>
          <p:nvPr/>
        </p:nvCxnSpPr>
        <p:spPr>
          <a:xfrm xmlns:a="http://schemas.openxmlformats.org/drawingml/2006/main">
            <a:off x="457200" y="64008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E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6604562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EE759D8-A3F9-42F2-8C0C-D02033BF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049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108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A hierarchical taxonomy turns ‘incorrect’ into an actionable diagnosis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7C0B5D6-2095-4AB1-9D39-E2080324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t>Predict parent type, subtype, violated semantic role, PNR, evidence region and calibrated uncertainty.</a:t>
            </a:r>
          </a:p>
        </p:txBody>
      </p:sp>
      <p:sp>
        <p:nvSpPr>
          <p:cNvPr id="3" name="phase-1">
            <a:extLst xmlns:a="http://schemas.openxmlformats.org/drawingml/2006/main">
              <a:ext uri="{FF2B5EF4-FFF2-40B4-BE49-F238E27FC236}">
                <a16:creationId xmlns:a16="http://schemas.microsoft.com/office/drawing/2014/main" id="{3A662FB5-C17A-4B5F-9BDD-AE187D28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2647950" cy="4048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44D2774-D057-4ABD-B519-51F64F59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9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8CC7A2-1C35-4A79-AD87-0CF4C773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2266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3932"/>
                </a:solidFill>
                <a:latin typeface="Arial"/>
                <a:ea typeface="Arial"/>
                <a:cs typeface="Arial"/>
              </a:defRPr>
            </a:pPr>
            <a:r>
              <a:t>PROCEDURE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C278E1A-E2D2-4508-A3B8-3E58D725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22669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Omitted / skipped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Wrong order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Repeated / extra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Premature / late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Forbidden branch</a:t>
            </a:r>
          </a:p>
        </p:txBody>
      </p:sp>
      <p:sp>
        <p:nvSpPr>
          <p:cNvPr id="7" name="phase-2">
            <a:extLst xmlns:a="http://schemas.openxmlformats.org/drawingml/2006/main">
              <a:ext uri="{FF2B5EF4-FFF2-40B4-BE49-F238E27FC236}">
                <a16:creationId xmlns:a16="http://schemas.microsoft.com/office/drawing/2014/main" id="{369A5013-8270-4688-92D8-9B995D48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647950" cy="4048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7C43024-8C1E-48FB-BD73-1B307FD2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011DA00-4F9F-493D-8798-C012C310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266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SELECTION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0070E8E-B73A-4594-BC77-B87159A3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22669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Wrong part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Wrong tool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Wrong fastener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Wrong quantity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Wrong variant</a:t>
            </a:r>
          </a:p>
        </p:txBody>
      </p:sp>
      <p:sp>
        <p:nvSpPr>
          <p:cNvPr id="11" name="phase-3">
            <a:extLst xmlns:a="http://schemas.openxmlformats.org/drawingml/2006/main">
              <a:ext uri="{FF2B5EF4-FFF2-40B4-BE49-F238E27FC236}">
                <a16:creationId xmlns:a16="http://schemas.microsoft.com/office/drawing/2014/main" id="{824808DF-39B2-4437-9F7C-92B6C2EF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2647950" cy="4048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4A6A5CC-D952-4102-87F0-7C218B22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C8BD74A-7FF4-4980-B5F5-486E2B01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2625"/>
            <a:ext cx="2266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8A54"/>
                </a:solidFill>
                <a:latin typeface="Arial"/>
                <a:ea typeface="Arial"/>
                <a:cs typeface="Arial"/>
              </a:defRPr>
            </a:pPr>
            <a:r>
              <a:t>SPATIAL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8E4E19E-2973-4886-9941-A49FAE75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22669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Wrong target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Wrong orientation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Misalignment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Wrong connection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Wrong routing</a:t>
            </a:r>
          </a:p>
        </p:txBody>
      </p:sp>
      <p:sp>
        <p:nvSpPr>
          <p:cNvPr id="15" name="phase-4">
            <a:extLst xmlns:a="http://schemas.openxmlformats.org/drawingml/2006/main">
              <a:ext uri="{FF2B5EF4-FFF2-40B4-BE49-F238E27FC236}">
                <a16:creationId xmlns:a16="http://schemas.microsoft.com/office/drawing/2014/main" id="{A566FD8B-7B2E-4ADC-904C-66377D4B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38300"/>
            <a:ext cx="2647950" cy="4048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A084428-8E50-44E3-9447-7DE8A1A1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3830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E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991D6BF-AB94-4A87-8FEA-A9A3B1FC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52625"/>
            <a:ext cx="2266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4EFF"/>
                </a:solidFill>
                <a:latin typeface="Arial"/>
                <a:ea typeface="Arial"/>
                <a:cs typeface="Arial"/>
              </a:defRPr>
            </a:pPr>
            <a:r>
              <a:t>EXECUTION + EFFECT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AC4660E-AEA8-4638-BCFC-B7BAD56B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95550"/>
            <a:ext cx="22669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Partial insertion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Under / over torque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Dropped / damaged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No expected state change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UNKNOWN anomaly</a:t>
            </a:r>
          </a:p>
        </p:txBody>
      </p:sp>
      <p:sp>
        <p:nvSpPr>
          <p:cNvPr id="19" name="timing-band">
            <a:extLst xmlns:a="http://schemas.openxmlformats.org/drawingml/2006/main">
              <a:ext uri="{FF2B5EF4-FFF2-40B4-BE49-F238E27FC236}">
                <a16:creationId xmlns:a16="http://schemas.microsoft.com/office/drawing/2014/main" id="{39C4B37B-EBBF-4E98-ACF6-78B44A81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1277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1D48FB0-742E-432B-AACA-D8CB839A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Fuse a known-type classifier with normal-only prototype distance. UNKNOWN is a valid safe output, not a failure.</a:t>
            </a:r>
          </a:p>
        </p:txBody>
      </p:sp>
      <p:cxnSp>
        <p:nvCxnSpPr>
          <p:cNvPr id="86" name="Straight Arrow Connector 43"/>
          <p:cNvCxnSpPr/>
          <p:nvPr/>
        </p:nvCxnSpPr>
        <p:spPr>
          <a:xfrm xmlns:a="http://schemas.openxmlformats.org/drawingml/2006/main">
            <a:off x="457200" y="64008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E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66045620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Text 0">
            <a:extLst xmlns:a="http://schemas.openxmlformats.org/drawingml/2006/main">
              <a:ext uri="{FF2B5EF4-FFF2-40B4-BE49-F238E27FC236}">
                <a16:creationId xmlns:a16="http://schemas.microsoft.com/office/drawing/2014/main" id="{F8D347C8-CA5A-4D48-82A5-2211D09F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432307"/>
            <a:ext cx="11155682" cy="4114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700" b="1">
                <a:solidFill>
                  <a:srgbClr val="1A2733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A live alert is grounded in before, contact and effect evidence</a:t>
            </a:r>
          </a:p>
        </p:txBody>
      </p:sp>
      <p:sp>
        <p:nvSpPr>
          <p:cNvPr id="83" name="Text 1">
            <a:extLst xmlns:a="http://schemas.openxmlformats.org/drawingml/2006/main">
              <a:ext uri="{FF2B5EF4-FFF2-40B4-BE49-F238E27FC236}">
                <a16:creationId xmlns:a16="http://schemas.microsoft.com/office/drawing/2014/main" id="{9A727C04-D0AF-4414-8686-56CE9E3E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1009327"/>
            <a:ext cx="11155682" cy="1981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300" i="1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Example: connector A is inserted where connector B is required</a:t>
            </a:r>
          </a:p>
        </p:txBody>
      </p:sp>
      <p:sp>
        <p:nvSpPr>
          <p:cNvPr id="84" name="Shape 2">
            <a:extLst xmlns:a="http://schemas.openxmlformats.org/drawingml/2006/main">
              <a:ext uri="{FF2B5EF4-FFF2-40B4-BE49-F238E27FC236}">
                <a16:creationId xmlns:a16="http://schemas.microsoft.com/office/drawing/2014/main" id="{AC50D9D5-F134-4638-940B-EFE14A55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1417319"/>
            <a:ext cx="4114801" cy="4114801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5875">
            <a:solidFill>
              <a:srgbClr val="3E6E96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85" name="Text 3">
            <a:extLst xmlns:a="http://schemas.openxmlformats.org/drawingml/2006/main">
              <a:ext uri="{FF2B5EF4-FFF2-40B4-BE49-F238E27FC236}">
                <a16:creationId xmlns:a16="http://schemas.microsoft.com/office/drawing/2014/main" id="{C191BE42-FEE4-4EBA-8047-9F792B81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39" y="1710690"/>
            <a:ext cx="3566161" cy="1905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300" b="1" spc="200">
                <a:solidFill>
                  <a:srgbClr val="3E6E96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INPUT</a:t>
            </a:r>
          </a:p>
        </p:txBody>
      </p:sp>
      <p:sp>
        <p:nvSpPr>
          <p:cNvPr id="86" name="Shape 4">
            <a:extLst xmlns:a="http://schemas.openxmlformats.org/drawingml/2006/main">
              <a:ext uri="{FF2B5EF4-FFF2-40B4-BE49-F238E27FC236}">
                <a16:creationId xmlns:a16="http://schemas.microsoft.com/office/drawing/2014/main" id="{AFB5AFD8-4830-434B-8BD6-93636515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03120"/>
            <a:ext cx="841248" cy="822961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2384C"/>
          </a:solidFill>
          <a:ln xmlns:a="http://schemas.openxmlformats.org/drawingml/2006/main" w="12700">
            <a:solidFill>
              <a:srgbClr val="3E6E96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87" name="Text 5">
            <a:extLst xmlns:a="http://schemas.openxmlformats.org/drawingml/2006/main">
              <a:ext uri="{FF2B5EF4-FFF2-40B4-BE49-F238E27FC236}">
                <a16:creationId xmlns:a16="http://schemas.microsoft.com/office/drawing/2014/main" id="{58D864A2-6003-4F91-AD61-765E3ADF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72284"/>
            <a:ext cx="749808" cy="3200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sz="1500">
                <a:solidFill>
                  <a:srgbClr val="6FA8C9"/>
                </a:solidFill>
              </a:defRPr>
            </a:lvl1pPr>
          </a:lstStyle>
          <a:p xmlns:a="http://schemas.openxmlformats.org/drawingml/2006/main">
            <a:r>
              <a:t>▶</a:t>
            </a:r>
          </a:p>
        </p:txBody>
      </p:sp>
      <p:sp>
        <p:nvSpPr>
          <p:cNvPr id="88" name="Text 6">
            <a:extLst xmlns:a="http://schemas.openxmlformats.org/drawingml/2006/main">
              <a:ext uri="{FF2B5EF4-FFF2-40B4-BE49-F238E27FC236}">
                <a16:creationId xmlns:a16="http://schemas.microsoft.com/office/drawing/2014/main" id="{EA66F44A-C035-4C8C-A6C4-706349EA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2743707"/>
            <a:ext cx="932689" cy="2133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700">
                <a:solidFill>
                  <a:srgbClr val="CADCFC"/>
                </a:solidFill>
              </a:defRPr>
            </a:lvl1pPr>
          </a:lstStyle>
          <a:p xmlns:a="http://schemas.openxmlformats.org/drawingml/2006/main">
            <a:r>
              <a:t>BEFORE</a:t>
            </a:r>
          </a:p>
          <a:p xmlns:a="http://schemas.openxmlformats.org/drawingml/2006/main">
            <a:r>
              <a:t>select B</a:t>
            </a:r>
          </a:p>
        </p:txBody>
      </p:sp>
      <p:sp>
        <p:nvSpPr>
          <p:cNvPr id="89" name="Shape 7">
            <a:extLst xmlns:a="http://schemas.openxmlformats.org/drawingml/2006/main">
              <a:ext uri="{FF2B5EF4-FFF2-40B4-BE49-F238E27FC236}">
                <a16:creationId xmlns:a16="http://schemas.microsoft.com/office/drawing/2014/main" id="{5B7BD90F-06B0-4C42-8960-271B7119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3" y="2103120"/>
            <a:ext cx="841249" cy="822961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2384C"/>
          </a:solidFill>
          <a:ln xmlns:a="http://schemas.openxmlformats.org/drawingml/2006/main" w="12700">
            <a:solidFill>
              <a:srgbClr val="3E6E96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90" name="Text 8">
            <a:extLst xmlns:a="http://schemas.openxmlformats.org/drawingml/2006/main">
              <a:ext uri="{FF2B5EF4-FFF2-40B4-BE49-F238E27FC236}">
                <a16:creationId xmlns:a16="http://schemas.microsoft.com/office/drawing/2014/main" id="{B1468434-AD92-487A-AF3D-A0494401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503" y="2272284"/>
            <a:ext cx="749809" cy="3200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sz="1500">
                <a:solidFill>
                  <a:srgbClr val="6FA8C9"/>
                </a:solidFill>
              </a:defRPr>
            </a:lvl1pPr>
          </a:lstStyle>
          <a:p xmlns:a="http://schemas.openxmlformats.org/drawingml/2006/main">
            <a:r>
              <a:t>▶</a:t>
            </a:r>
          </a:p>
        </p:txBody>
      </p:sp>
      <p:sp>
        <p:nvSpPr>
          <p:cNvPr id="91" name="Text 9">
            <a:extLst xmlns:a="http://schemas.openxmlformats.org/drawingml/2006/main">
              <a:ext uri="{FF2B5EF4-FFF2-40B4-BE49-F238E27FC236}">
                <a16:creationId xmlns:a16="http://schemas.microsoft.com/office/drawing/2014/main" id="{B1B48F71-D05A-43A9-840D-E47C5F82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064" y="2743707"/>
            <a:ext cx="932689" cy="2133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700">
                <a:solidFill>
                  <a:srgbClr val="CADCFC"/>
                </a:solidFill>
              </a:defRPr>
            </a:lvl1pPr>
          </a:lstStyle>
          <a:p xmlns:a="http://schemas.openxmlformats.org/drawingml/2006/main">
            <a:r>
              <a:t>REACH</a:t>
            </a:r>
          </a:p>
          <a:p xmlns:a="http://schemas.openxmlformats.org/drawingml/2006/main">
            <a:r>
              <a:t>socket C</a:t>
            </a:r>
          </a:p>
        </p:txBody>
      </p:sp>
      <p:sp>
        <p:nvSpPr>
          <p:cNvPr id="92" name="Shape 10">
            <a:extLst xmlns:a="http://schemas.openxmlformats.org/drawingml/2006/main">
              <a:ext uri="{FF2B5EF4-FFF2-40B4-BE49-F238E27FC236}">
                <a16:creationId xmlns:a16="http://schemas.microsoft.com/office/drawing/2014/main" id="{D9CE0697-4C2F-46FB-B525-DF4EDCA0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7" y="2103120"/>
            <a:ext cx="841249" cy="822961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2384C"/>
          </a:solidFill>
          <a:ln xmlns:a="http://schemas.openxmlformats.org/drawingml/2006/main" w="12700">
            <a:solidFill>
              <a:srgbClr val="3E6E96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93" name="Text 11">
            <a:extLst xmlns:a="http://schemas.openxmlformats.org/drawingml/2006/main">
              <a:ext uri="{FF2B5EF4-FFF2-40B4-BE49-F238E27FC236}">
                <a16:creationId xmlns:a16="http://schemas.microsoft.com/office/drawing/2014/main" id="{4D1E178A-AF57-4D68-A208-A5513D2E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2272284"/>
            <a:ext cx="749808" cy="3200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sz="1500">
                <a:solidFill>
                  <a:srgbClr val="6FA8C9"/>
                </a:solidFill>
              </a:defRPr>
            </a:lvl1pPr>
          </a:lstStyle>
          <a:p xmlns:a="http://schemas.openxmlformats.org/drawingml/2006/main">
            <a:r>
              <a:t>▶</a:t>
            </a:r>
          </a:p>
        </p:txBody>
      </p:sp>
      <p:sp>
        <p:nvSpPr>
          <p:cNvPr id="94" name="Text 12">
            <a:extLst xmlns:a="http://schemas.openxmlformats.org/drawingml/2006/main">
              <a:ext uri="{FF2B5EF4-FFF2-40B4-BE49-F238E27FC236}">
                <a16:creationId xmlns:a16="http://schemas.microsoft.com/office/drawing/2014/main" id="{654967D7-B415-4A84-91BC-95FE2DA6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7" y="2743707"/>
            <a:ext cx="932689" cy="2133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700">
                <a:solidFill>
                  <a:srgbClr val="CADCFC"/>
                </a:solidFill>
              </a:defRPr>
            </a:lvl1pPr>
          </a:lstStyle>
          <a:p xmlns:a="http://schemas.openxmlformats.org/drawingml/2006/main">
            <a:r>
              <a:t>CONTACT</a:t>
            </a:r>
          </a:p>
          <a:p xmlns:a="http://schemas.openxmlformats.org/drawingml/2006/main">
            <a:r>
              <a:t>insert A</a:t>
            </a:r>
          </a:p>
        </p:txBody>
      </p:sp>
      <p:sp>
        <p:nvSpPr>
          <p:cNvPr id="95" name="Shape 13">
            <a:extLst xmlns:a="http://schemas.openxmlformats.org/drawingml/2006/main">
              <a:ext uri="{FF2B5EF4-FFF2-40B4-BE49-F238E27FC236}">
                <a16:creationId xmlns:a16="http://schemas.microsoft.com/office/drawing/2014/main" id="{18ECACFD-E18A-433B-94B0-DB221E8D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1" y="2103120"/>
            <a:ext cx="841249" cy="822961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2384C"/>
          </a:solidFill>
          <a:ln xmlns:a="http://schemas.openxmlformats.org/drawingml/2006/main" w="12700">
            <a:solidFill>
              <a:srgbClr val="3E6E96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96" name="Text 14">
            <a:extLst xmlns:a="http://schemas.openxmlformats.org/drawingml/2006/main">
              <a:ext uri="{FF2B5EF4-FFF2-40B4-BE49-F238E27FC236}">
                <a16:creationId xmlns:a16="http://schemas.microsoft.com/office/drawing/2014/main" id="{63C649D8-C60D-4D9F-98AB-019262E7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1" y="2272284"/>
            <a:ext cx="749809" cy="32004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sz="1500">
                <a:solidFill>
                  <a:srgbClr val="6FA8C9"/>
                </a:solidFill>
              </a:defRPr>
            </a:lvl1pPr>
          </a:lstStyle>
          <a:p xmlns:a="http://schemas.openxmlformats.org/drawingml/2006/main">
            <a:r>
              <a:t>▶</a:t>
            </a:r>
          </a:p>
        </p:txBody>
      </p:sp>
      <p:sp>
        <p:nvSpPr>
          <p:cNvPr id="97" name="Text 15">
            <a:extLst xmlns:a="http://schemas.openxmlformats.org/drawingml/2006/main">
              <a:ext uri="{FF2B5EF4-FFF2-40B4-BE49-F238E27FC236}">
                <a16:creationId xmlns:a16="http://schemas.microsoft.com/office/drawing/2014/main" id="{7ADD998E-88A3-483E-9118-85362E02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743707"/>
            <a:ext cx="932689" cy="2133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700">
                <a:solidFill>
                  <a:srgbClr val="CADCFC"/>
                </a:solidFill>
              </a:defRPr>
            </a:lvl1pPr>
          </a:lstStyle>
          <a:p xmlns:a="http://schemas.openxmlformats.org/drawingml/2006/main">
            <a:r>
              <a:t>EFFECT</a:t>
            </a:r>
          </a:p>
          <a:p xmlns:a="http://schemas.openxmlformats.org/drawingml/2006/main">
            <a:r>
              <a:t>A seated</a:t>
            </a:r>
          </a:p>
        </p:txBody>
      </p:sp>
      <p:sp>
        <p:nvSpPr>
          <p:cNvPr id="98" name="Text 16">
            <a:extLst xmlns:a="http://schemas.openxmlformats.org/drawingml/2006/main">
              <a:ext uri="{FF2B5EF4-FFF2-40B4-BE49-F238E27FC236}">
                <a16:creationId xmlns:a16="http://schemas.microsoft.com/office/drawing/2014/main" id="{7D328871-100F-4020-B79E-DC68F835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39" y="3220896"/>
            <a:ext cx="3566161" cy="32476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A2733"/>
                </a:solidFill>
              </a:defRPr>
            </a:pPr>
            <a:r>
              <a:t>Egocentric RGB-D + optional wrist/tool telemetry</a:t>
            </a:r>
          </a:p>
        </p:txBody>
      </p:sp>
      <p:sp>
        <p:nvSpPr>
          <p:cNvPr id="99" name="Text 17">
            <a:extLst xmlns:a="http://schemas.openxmlformats.org/drawingml/2006/main">
              <a:ext uri="{FF2B5EF4-FFF2-40B4-BE49-F238E27FC236}">
                <a16:creationId xmlns:a16="http://schemas.microsoft.com/office/drawing/2014/main" id="{E678289A-D9A7-44A1-BDC1-BE3C43D4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39" y="3948494"/>
            <a:ext cx="3566161" cy="3326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4999"/>
              </a:lnSpc>
              <a:buNone/>
              <a:defRPr sz="1200" b="1">
                <a:solidFill>
                  <a:srgbClr val="1A2733"/>
                </a:solidFill>
              </a:defRPr>
            </a:pPr>
            <a:r>
              <a:t>Object relation tokens: hand, connector A/B, socket C</a:t>
            </a:r>
          </a:p>
        </p:txBody>
      </p:sp>
      <p:sp>
        <p:nvSpPr>
          <p:cNvPr id="100" name="Text 18">
            <a:extLst xmlns:a="http://schemas.openxmlformats.org/drawingml/2006/main">
              <a:ext uri="{FF2B5EF4-FFF2-40B4-BE49-F238E27FC236}">
                <a16:creationId xmlns:a16="http://schemas.microsoft.com/office/drawing/2014/main" id="{50659505-1306-472B-A37F-96CB9F31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39" y="4617720"/>
            <a:ext cx="3566161" cy="30608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4999"/>
              </a:lnSpc>
              <a:buNone/>
              <a:defRPr sz="1100" b="1">
                <a:solidFill>
                  <a:srgbClr val="1A2733"/>
                </a:solidFill>
              </a:defRPr>
            </a:pPr>
            <a:r>
              <a:t>Task graph expects: insert connector B into socket C</a:t>
            </a:r>
          </a:p>
        </p:txBody>
      </p:sp>
      <p:sp>
        <p:nvSpPr>
          <p:cNvPr id="101" name="Shape 19">
            <a:extLst xmlns:a="http://schemas.openxmlformats.org/drawingml/2006/main">
              <a:ext uri="{FF2B5EF4-FFF2-40B4-BE49-F238E27FC236}">
                <a16:creationId xmlns:a16="http://schemas.microsoft.com/office/drawing/2014/main" id="{4871AE05-E87C-4260-BFE2-C27FAD2F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474720"/>
            <a:ext cx="457201" cy="1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8595A2"/>
            </a:solidFill>
            <a:tailEnd type="triangle"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02" name="Shape 20">
            <a:extLst xmlns:a="http://schemas.openxmlformats.org/drawingml/2006/main">
              <a:ext uri="{FF2B5EF4-FFF2-40B4-BE49-F238E27FC236}">
                <a16:creationId xmlns:a16="http://schemas.microsoft.com/office/drawing/2014/main" id="{4F7919E5-7F53-4995-A9DE-04DBE737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17319"/>
            <a:ext cx="6720841" cy="4114801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5875">
            <a:solidFill>
              <a:srgbClr val="3E8B60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03" name="Text 21">
            <a:extLst xmlns:a="http://schemas.openxmlformats.org/drawingml/2006/main">
              <a:ext uri="{FF2B5EF4-FFF2-40B4-BE49-F238E27FC236}">
                <a16:creationId xmlns:a16="http://schemas.microsoft.com/office/drawing/2014/main" id="{AC97471D-1479-4ECA-97D9-3E1DF4AE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710690"/>
            <a:ext cx="6172201" cy="1905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300" b="1" spc="200">
                <a:solidFill>
                  <a:srgbClr val="3E8B60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OUTPUT</a:t>
            </a:r>
          </a:p>
        </p:txBody>
      </p:sp>
      <p:sp>
        <p:nvSpPr>
          <p:cNvPr id="104" name="Shape 22">
            <a:extLst xmlns:a="http://schemas.openxmlformats.org/drawingml/2006/main">
              <a:ext uri="{FF2B5EF4-FFF2-40B4-BE49-F238E27FC236}">
                <a16:creationId xmlns:a16="http://schemas.microsoft.com/office/drawing/2014/main" id="{012A97F7-8955-4748-8882-6C56FE95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148839"/>
            <a:ext cx="1015442" cy="4572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F0"/>
          </a:solidFill>
          <a:ln xmlns:a="http://schemas.openxmlformats.org/drawingml/2006/main" w="12700">
            <a:solidFill>
              <a:srgbClr val="3E6E96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05" name="Shape 23">
            <a:extLst xmlns:a="http://schemas.openxmlformats.org/drawingml/2006/main">
              <a:ext uri="{FF2B5EF4-FFF2-40B4-BE49-F238E27FC236}">
                <a16:creationId xmlns:a16="http://schemas.microsoft.com/office/drawing/2014/main" id="{A6317412-A554-473F-9B05-B181740F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569" y="2148839"/>
            <a:ext cx="954635" cy="4572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9D6"/>
          </a:solidFill>
          <a:ln xmlns:a="http://schemas.openxmlformats.org/drawingml/2006/main" w="12700">
            <a:solidFill>
              <a:srgbClr val="3E8B6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06" name="Shape 24">
            <a:extLst xmlns:a="http://schemas.openxmlformats.org/drawingml/2006/main">
              <a:ext uri="{FF2B5EF4-FFF2-40B4-BE49-F238E27FC236}">
                <a16:creationId xmlns:a16="http://schemas.microsoft.com/office/drawing/2014/main" id="{B22093EF-8C74-4408-ABCD-3C09364D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4491" y="2148839"/>
            <a:ext cx="1319480" cy="4572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B0"/>
          </a:solidFill>
          <a:ln xmlns:a="http://schemas.openxmlformats.org/drawingml/2006/main" w="12700">
            <a:solidFill>
              <a:srgbClr val="C98A3C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07" name="Shape 25">
            <a:extLst xmlns:a="http://schemas.openxmlformats.org/drawingml/2006/main">
              <a:ext uri="{FF2B5EF4-FFF2-40B4-BE49-F238E27FC236}">
                <a16:creationId xmlns:a16="http://schemas.microsoft.com/office/drawing/2014/main" id="{24AE2AE7-9698-4FEF-9A34-592DC1F0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2257" y="2148839"/>
            <a:ext cx="1076250" cy="4572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FF0"/>
          </a:solidFill>
          <a:ln xmlns:a="http://schemas.openxmlformats.org/drawingml/2006/main" w="12700">
            <a:solidFill>
              <a:srgbClr val="8A5BB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08" name="Shape 26">
            <a:extLst xmlns:a="http://schemas.openxmlformats.org/drawingml/2006/main">
              <a:ext uri="{FF2B5EF4-FFF2-40B4-BE49-F238E27FC236}">
                <a16:creationId xmlns:a16="http://schemas.microsoft.com/office/drawing/2014/main" id="{AD920EFD-4114-4A34-9058-327E40EC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794" y="2148839"/>
            <a:ext cx="893826" cy="4572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C4"/>
          </a:solidFill>
          <a:ln xmlns:a="http://schemas.openxmlformats.org/drawingml/2006/main" w="12700">
            <a:solidFill>
              <a:srgbClr val="C0504D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09" name="Shape 27">
            <a:extLst xmlns:a="http://schemas.openxmlformats.org/drawingml/2006/main">
              <a:ext uri="{FF2B5EF4-FFF2-40B4-BE49-F238E27FC236}">
                <a16:creationId xmlns:a16="http://schemas.microsoft.com/office/drawing/2014/main" id="{B88B5BE5-7407-4272-8EDD-15A36901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8908" y="2148839"/>
            <a:ext cx="711404" cy="4572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9D6"/>
          </a:solidFill>
          <a:ln xmlns:a="http://schemas.openxmlformats.org/drawingml/2006/main" w="12700">
            <a:solidFill>
              <a:srgbClr val="3E8B60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10" name="Text 28">
            <a:extLst xmlns:a="http://schemas.openxmlformats.org/drawingml/2006/main">
              <a:ext uri="{FF2B5EF4-FFF2-40B4-BE49-F238E27FC236}">
                <a16:creationId xmlns:a16="http://schemas.microsoft.com/office/drawing/2014/main" id="{C374E17B-21D2-4E93-AA2E-7E9FD71C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684272"/>
            <a:ext cx="6080761" cy="1371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900" i="1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LIVE EVENT TIMELINE</a:t>
            </a:r>
          </a:p>
        </p:txBody>
      </p:sp>
      <p:sp>
        <p:nvSpPr>
          <p:cNvPr id="111" name="Shape 29">
            <a:extLst xmlns:a="http://schemas.openxmlformats.org/drawingml/2006/main">
              <a:ext uri="{FF2B5EF4-FFF2-40B4-BE49-F238E27FC236}">
                <a16:creationId xmlns:a16="http://schemas.microsoft.com/office/drawing/2014/main" id="{BC2725AF-FE4A-4F0C-9FA4-64DB2F2D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90088"/>
            <a:ext cx="6172201" cy="3291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12700">
            <a:solidFill>
              <a:srgbClr val="EDF2F6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12" name="Text 30">
            <a:extLst xmlns:a="http://schemas.openxmlformats.org/drawingml/2006/main">
              <a:ext uri="{FF2B5EF4-FFF2-40B4-BE49-F238E27FC236}">
                <a16:creationId xmlns:a16="http://schemas.microsoft.com/office/drawing/2014/main" id="{504F4F0B-C5D0-4463-AA26-573626EE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084830"/>
            <a:ext cx="1463041" cy="152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B6B78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defRPr sz="825"/>
            </a:pPr>
            <a:r>
              <a:rPr sz="825"/>
              <a:t>00:78–79</a:t>
            </a:r>
          </a:p>
        </p:txBody>
      </p:sp>
      <p:sp>
        <p:nvSpPr>
          <p:cNvPr id="113" name="Text 31">
            <a:extLst xmlns:a="http://schemas.openxmlformats.org/drawingml/2006/main">
              <a:ext uri="{FF2B5EF4-FFF2-40B4-BE49-F238E27FC236}">
                <a16:creationId xmlns:a16="http://schemas.microsoft.com/office/drawing/2014/main" id="{FC6168F1-3235-48AC-856F-442E46A5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7546"/>
            <a:ext cx="2834640" cy="1676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1A2733"/>
                </a:solidFill>
              </a:defRPr>
            </a:lvl1pPr>
          </a:lstStyle>
          <a:p xmlns:a="http://schemas.openxmlformats.org/drawingml/2006/main">
            <a:pPr>
              <a:defRPr sz="825"/>
            </a:pPr>
            <a:r>
              <a:rPr sz="825"/>
              <a:t>step</a:t>
            </a:r>
          </a:p>
        </p:txBody>
      </p:sp>
      <p:sp>
        <p:nvSpPr>
          <p:cNvPr id="114" name="Text 32">
            <a:extLst xmlns:a="http://schemas.openxmlformats.org/drawingml/2006/main">
              <a:ext uri="{FF2B5EF4-FFF2-40B4-BE49-F238E27FC236}">
                <a16:creationId xmlns:a16="http://schemas.microsoft.com/office/drawing/2014/main" id="{44C8035B-8231-44B8-8C78-90C235A4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59" y="3069401"/>
            <a:ext cx="1737361" cy="3352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2E8B6B"/>
                </a:solidFill>
              </a:defRPr>
            </a:lvl1pPr>
          </a:lstStyle>
          <a:p xmlns:a="http://schemas.openxmlformats.org/drawingml/2006/main">
            <a:pPr>
              <a:defRPr sz="900"/>
            </a:pPr>
            <a:r>
              <a:rPr sz="900"/>
              <a:t>select_connector_B  ✓ expected</a:t>
            </a:r>
          </a:p>
        </p:txBody>
      </p:sp>
      <p:sp>
        <p:nvSpPr>
          <p:cNvPr id="115" name="Text 33">
            <a:extLst xmlns:a="http://schemas.openxmlformats.org/drawingml/2006/main">
              <a:ext uri="{FF2B5EF4-FFF2-40B4-BE49-F238E27FC236}">
                <a16:creationId xmlns:a16="http://schemas.microsoft.com/office/drawing/2014/main" id="{0B836F86-75F6-49F6-ABA6-3501778D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414013"/>
            <a:ext cx="1463041" cy="152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B6B78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defRPr sz="825"/>
            </a:pPr>
            <a:r>
              <a:rPr sz="825"/>
              <a:t>00:79–80</a:t>
            </a:r>
          </a:p>
        </p:txBody>
      </p:sp>
      <p:sp>
        <p:nvSpPr>
          <p:cNvPr id="116" name="Text 34">
            <a:extLst xmlns:a="http://schemas.openxmlformats.org/drawingml/2006/main">
              <a:ext uri="{FF2B5EF4-FFF2-40B4-BE49-F238E27FC236}">
                <a16:creationId xmlns:a16="http://schemas.microsoft.com/office/drawing/2014/main" id="{E23EDA8A-3F78-4DC9-9BE2-13C0A091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16729"/>
            <a:ext cx="2834640" cy="1676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1A2733"/>
                </a:solidFill>
              </a:defRPr>
            </a:lvl1pPr>
          </a:lstStyle>
          <a:p xmlns:a="http://schemas.openxmlformats.org/drawingml/2006/main">
            <a:pPr>
              <a:defRPr sz="825"/>
            </a:pPr>
            <a:r>
              <a:rPr sz="825"/>
              <a:t>contact</a:t>
            </a:r>
          </a:p>
        </p:txBody>
      </p:sp>
      <p:sp>
        <p:nvSpPr>
          <p:cNvPr id="117" name="Text 35">
            <a:extLst xmlns:a="http://schemas.openxmlformats.org/drawingml/2006/main">
              <a:ext uri="{FF2B5EF4-FFF2-40B4-BE49-F238E27FC236}">
                <a16:creationId xmlns:a16="http://schemas.microsoft.com/office/drawing/2014/main" id="{49560AC5-CECD-4644-BE1D-A438A0BA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59" y="3398585"/>
            <a:ext cx="1737361" cy="3352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2E8B6B"/>
                </a:solidFill>
              </a:defRPr>
            </a:lvl1pPr>
          </a:lstStyle>
          <a:p xmlns:a="http://schemas.openxmlformats.org/drawingml/2006/main">
            <a:pPr>
              <a:defRPr sz="900"/>
            </a:pPr>
            <a:r>
              <a:rPr sz="900"/>
              <a:t>connector_A → socket_C  ✕ wrong part</a:t>
            </a:r>
          </a:p>
        </p:txBody>
      </p:sp>
      <p:sp>
        <p:nvSpPr>
          <p:cNvPr id="118" name="Shape 36">
            <a:extLst xmlns:a="http://schemas.openxmlformats.org/drawingml/2006/main">
              <a:ext uri="{FF2B5EF4-FFF2-40B4-BE49-F238E27FC236}">
                <a16:creationId xmlns:a16="http://schemas.microsoft.com/office/drawing/2014/main" id="{BE41DD3B-766D-41DB-870B-8FF8DE20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648455"/>
            <a:ext cx="6172201" cy="3291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12700">
            <a:solidFill>
              <a:srgbClr val="EDF2F6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19" name="Text 37">
            <a:extLst xmlns:a="http://schemas.openxmlformats.org/drawingml/2006/main">
              <a:ext uri="{FF2B5EF4-FFF2-40B4-BE49-F238E27FC236}">
                <a16:creationId xmlns:a16="http://schemas.microsoft.com/office/drawing/2014/main" id="{D10D161A-8710-4809-98FE-C4CF46D6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743197"/>
            <a:ext cx="1463041" cy="152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B6B78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defRPr sz="825"/>
            </a:pPr>
            <a:r>
              <a:rPr sz="825"/>
              <a:t>00:80–81</a:t>
            </a:r>
          </a:p>
        </p:txBody>
      </p:sp>
      <p:sp>
        <p:nvSpPr>
          <p:cNvPr id="120" name="Text 38">
            <a:extLst xmlns:a="http://schemas.openxmlformats.org/drawingml/2006/main">
              <a:ext uri="{FF2B5EF4-FFF2-40B4-BE49-F238E27FC236}">
                <a16:creationId xmlns:a16="http://schemas.microsoft.com/office/drawing/2014/main" id="{E731D6B4-7D11-415A-B6F6-9BD65CD7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45914"/>
            <a:ext cx="2834640" cy="1676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1A2733"/>
                </a:solidFill>
              </a:defRPr>
            </a:lvl1pPr>
          </a:lstStyle>
          <a:p xmlns:a="http://schemas.openxmlformats.org/drawingml/2006/main">
            <a:pPr>
              <a:defRPr sz="825"/>
            </a:pPr>
            <a:r>
              <a:rPr sz="825"/>
              <a:t>effect</a:t>
            </a:r>
          </a:p>
        </p:txBody>
      </p:sp>
      <p:sp>
        <p:nvSpPr>
          <p:cNvPr id="121" name="Text 39">
            <a:extLst xmlns:a="http://schemas.openxmlformats.org/drawingml/2006/main">
              <a:ext uri="{FF2B5EF4-FFF2-40B4-BE49-F238E27FC236}">
                <a16:creationId xmlns:a16="http://schemas.microsoft.com/office/drawing/2014/main" id="{B04FF036-68A1-4EEE-9D2E-3DE3873B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59" y="3727769"/>
            <a:ext cx="1737361" cy="3352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2E8B6B"/>
                </a:solidFill>
              </a:defRPr>
            </a:lvl1pPr>
          </a:lstStyle>
          <a:p xmlns:a="http://schemas.openxmlformats.org/drawingml/2006/main">
            <a:pPr>
              <a:defRPr sz="900"/>
            </a:pPr>
            <a:r>
              <a:rPr sz="900"/>
              <a:t>A inserted_into C  ✕ wrong connection</a:t>
            </a:r>
          </a:p>
        </p:txBody>
      </p:sp>
      <p:sp>
        <p:nvSpPr>
          <p:cNvPr id="122" name="Text 40">
            <a:extLst xmlns:a="http://schemas.openxmlformats.org/drawingml/2006/main">
              <a:ext uri="{FF2B5EF4-FFF2-40B4-BE49-F238E27FC236}">
                <a16:creationId xmlns:a16="http://schemas.microsoft.com/office/drawing/2014/main" id="{0567ADCB-2956-427E-BE28-0301BFF9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072382"/>
            <a:ext cx="1463041" cy="152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B6B78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defRPr sz="825"/>
            </a:pPr>
            <a:r>
              <a:rPr sz="825"/>
              <a:t>00:81.4</a:t>
            </a:r>
          </a:p>
        </p:txBody>
      </p:sp>
      <p:sp>
        <p:nvSpPr>
          <p:cNvPr id="123" name="Text 41">
            <a:extLst xmlns:a="http://schemas.openxmlformats.org/drawingml/2006/main">
              <a:ext uri="{FF2B5EF4-FFF2-40B4-BE49-F238E27FC236}">
                <a16:creationId xmlns:a16="http://schemas.microsoft.com/office/drawing/2014/main" id="{6BADDCAD-B874-4E02-A009-9B520A18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75098"/>
            <a:ext cx="2834640" cy="1676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1A2733"/>
                </a:solidFill>
              </a:defRPr>
            </a:lvl1pPr>
          </a:lstStyle>
          <a:p xmlns:a="http://schemas.openxmlformats.org/drawingml/2006/main">
            <a:pPr>
              <a:defRPr sz="825"/>
            </a:pPr>
            <a:r>
              <a:rPr sz="825"/>
              <a:t>PNR</a:t>
            </a:r>
          </a:p>
        </p:txBody>
      </p:sp>
      <p:sp>
        <p:nvSpPr>
          <p:cNvPr id="124" name="Text 42">
            <a:extLst xmlns:a="http://schemas.openxmlformats.org/drawingml/2006/main">
              <a:ext uri="{FF2B5EF4-FFF2-40B4-BE49-F238E27FC236}">
                <a16:creationId xmlns:a16="http://schemas.microsoft.com/office/drawing/2014/main" id="{8C8DB117-E0C4-4587-951C-2A8EA67A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59" y="4056953"/>
            <a:ext cx="1737361" cy="3352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2E8B6B"/>
                </a:solidFill>
              </a:defRPr>
            </a:lvl1pPr>
          </a:lstStyle>
          <a:p xmlns:a="http://schemas.openxmlformats.org/drawingml/2006/main">
            <a:pPr>
              <a:defRPr sz="900"/>
            </a:pPr>
            <a:r>
              <a:rPr sz="900"/>
              <a:t>mismatch becomes irreversible  ⚠ alert</a:t>
            </a:r>
          </a:p>
        </p:txBody>
      </p:sp>
      <p:sp>
        <p:nvSpPr>
          <p:cNvPr id="125" name="Shape 43">
            <a:extLst xmlns:a="http://schemas.openxmlformats.org/drawingml/2006/main">
              <a:ext uri="{FF2B5EF4-FFF2-40B4-BE49-F238E27FC236}">
                <a16:creationId xmlns:a16="http://schemas.microsoft.com/office/drawing/2014/main" id="{D624098D-32A0-4574-AE88-8F882E5C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306823"/>
            <a:ext cx="6172201" cy="3291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12700">
            <a:solidFill>
              <a:srgbClr val="EDF2F6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26" name="Text 44">
            <a:extLst xmlns:a="http://schemas.openxmlformats.org/drawingml/2006/main">
              <a:ext uri="{FF2B5EF4-FFF2-40B4-BE49-F238E27FC236}">
                <a16:creationId xmlns:a16="http://schemas.microsoft.com/office/drawing/2014/main" id="{CC8CEA9F-3E0A-484B-9590-6062515B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401565"/>
            <a:ext cx="1463041" cy="152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B6B78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defRPr sz="825"/>
            </a:pPr>
            <a:r>
              <a:rPr sz="825"/>
              <a:t>00:82–84</a:t>
            </a:r>
          </a:p>
        </p:txBody>
      </p:sp>
      <p:sp>
        <p:nvSpPr>
          <p:cNvPr id="127" name="Text 45">
            <a:extLst xmlns:a="http://schemas.openxmlformats.org/drawingml/2006/main">
              <a:ext uri="{FF2B5EF4-FFF2-40B4-BE49-F238E27FC236}">
                <a16:creationId xmlns:a16="http://schemas.microsoft.com/office/drawing/2014/main" id="{4A41D845-4342-42C1-A2E1-91B7ED73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04282"/>
            <a:ext cx="2834640" cy="1676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1A2733"/>
                </a:solidFill>
              </a:defRPr>
            </a:lvl1pPr>
          </a:lstStyle>
          <a:p xmlns:a="http://schemas.openxmlformats.org/drawingml/2006/main">
            <a:pPr>
              <a:defRPr sz="825"/>
            </a:pPr>
            <a:r>
              <a:rPr sz="825"/>
              <a:t>recovery</a:t>
            </a:r>
          </a:p>
        </p:txBody>
      </p:sp>
      <p:sp>
        <p:nvSpPr>
          <p:cNvPr id="128" name="Text 46">
            <a:extLst xmlns:a="http://schemas.openxmlformats.org/drawingml/2006/main">
              <a:ext uri="{FF2B5EF4-FFF2-40B4-BE49-F238E27FC236}">
                <a16:creationId xmlns:a16="http://schemas.microsoft.com/office/drawing/2014/main" id="{52B70C48-D343-4212-BE7E-AC61AA32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59" y="4396449"/>
            <a:ext cx="1737361" cy="3352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C0504D"/>
                </a:solidFill>
              </a:defRPr>
            </a:lvl1pPr>
          </a:lstStyle>
          <a:p xmlns:a="http://schemas.openxmlformats.org/drawingml/2006/main">
            <a:pPr>
              <a:defRPr sz="900"/>
            </a:pPr>
            <a:r>
              <a:rPr sz="900"/>
              <a:t>disconnect A  ✓ approved operation</a:t>
            </a:r>
          </a:p>
        </p:txBody>
      </p:sp>
      <p:sp>
        <p:nvSpPr>
          <p:cNvPr id="129" name="Text 47">
            <a:extLst xmlns:a="http://schemas.openxmlformats.org/drawingml/2006/main">
              <a:ext uri="{FF2B5EF4-FFF2-40B4-BE49-F238E27FC236}">
                <a16:creationId xmlns:a16="http://schemas.microsoft.com/office/drawing/2014/main" id="{7EE33F95-A3A3-4195-A30B-8AC04F6E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730750"/>
            <a:ext cx="1463041" cy="152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>
                <a:solidFill>
                  <a:srgbClr val="5B6B78"/>
                </a:solidFill>
                <a:latin typeface="Courier New"/>
                <a:ea typeface="Courier New"/>
                <a:cs typeface="Courier New"/>
              </a:defRPr>
            </a:lvl1pPr>
          </a:lstStyle>
          <a:p xmlns:a="http://schemas.openxmlformats.org/drawingml/2006/main">
            <a:pPr>
              <a:defRPr sz="825"/>
            </a:pPr>
            <a:r>
              <a:rPr sz="825"/>
              <a:t>00:84–86</a:t>
            </a:r>
          </a:p>
        </p:txBody>
      </p:sp>
      <p:sp>
        <p:nvSpPr>
          <p:cNvPr id="130" name="Text 48">
            <a:extLst xmlns:a="http://schemas.openxmlformats.org/drawingml/2006/main">
              <a:ext uri="{FF2B5EF4-FFF2-40B4-BE49-F238E27FC236}">
                <a16:creationId xmlns:a16="http://schemas.microsoft.com/office/drawing/2014/main" id="{CB6DF506-CBDE-4063-A9F8-17ECF16F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33466"/>
            <a:ext cx="2834640" cy="1676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1A2733"/>
                </a:solidFill>
              </a:defRPr>
            </a:lvl1pPr>
          </a:lstStyle>
          <a:p xmlns:a="http://schemas.openxmlformats.org/drawingml/2006/main">
            <a:pPr>
              <a:defRPr sz="825"/>
            </a:pPr>
            <a:r>
              <a:rPr sz="825"/>
              <a:t>verify</a:t>
            </a:r>
          </a:p>
        </p:txBody>
      </p:sp>
      <p:sp>
        <p:nvSpPr>
          <p:cNvPr id="131" name="Text 49">
            <a:extLst xmlns:a="http://schemas.openxmlformats.org/drawingml/2006/main">
              <a:ext uri="{FF2B5EF4-FFF2-40B4-BE49-F238E27FC236}">
                <a16:creationId xmlns:a16="http://schemas.microsoft.com/office/drawing/2014/main" id="{CECA877D-609B-4C92-B542-628704C8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59" y="4715321"/>
            <a:ext cx="1737361" cy="3352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2E8B6B"/>
                </a:solidFill>
              </a:defRPr>
            </a:lvl1pPr>
          </a:lstStyle>
          <a:p xmlns:a="http://schemas.openxmlformats.org/drawingml/2006/main">
            <a:pPr>
              <a:defRPr sz="900"/>
            </a:pPr>
            <a:r>
              <a:rPr sz="900"/>
              <a:t>B connected_to C  ✓ back on track</a:t>
            </a:r>
          </a:p>
        </p:txBody>
      </p:sp>
      <p:sp>
        <p:nvSpPr>
          <p:cNvPr id="132" name="Shape 50">
            <a:extLst xmlns:a="http://schemas.openxmlformats.org/drawingml/2006/main">
              <a:ext uri="{FF2B5EF4-FFF2-40B4-BE49-F238E27FC236}">
                <a16:creationId xmlns:a16="http://schemas.microsoft.com/office/drawing/2014/main" id="{D4F2D7E5-3BCE-42FC-817C-59519B45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038344"/>
            <a:ext cx="6172201" cy="457201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E0DE"/>
          </a:solidFill>
          <a:ln xmlns:a="http://schemas.openxmlformats.org/drawingml/2006/main" w="12700">
            <a:solidFill>
              <a:srgbClr val="C0504D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33" name="Text 51">
            <a:extLst xmlns:a="http://schemas.openxmlformats.org/drawingml/2006/main">
              <a:ext uri="{FF2B5EF4-FFF2-40B4-BE49-F238E27FC236}">
                <a16:creationId xmlns:a16="http://schemas.microsoft.com/office/drawing/2014/main" id="{27CBE04D-4308-4569-97C6-A700A51A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79" y="5199810"/>
            <a:ext cx="5989321" cy="171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C0504D"/>
                </a:solidFill>
              </a:defRPr>
            </a:pPr>
            <a:r>
              <a:rPr sz="1125" b="1">
                <a:solidFill>
                  <a:srgbClr val="C0504D"/>
                </a:solidFill>
              </a:rPr>
              <a:t>IMMEDIATE ALERT: wrong connection at 81.4 s — disconnect A, inspect C, then insert B</a:t>
            </a:r>
          </a:p>
        </p:txBody>
      </p:sp>
      <p:sp>
        <p:nvSpPr>
          <p:cNvPr id="134" name="Text 52">
            <a:extLst xmlns:a="http://schemas.openxmlformats.org/drawingml/2006/main">
              <a:ext uri="{FF2B5EF4-FFF2-40B4-BE49-F238E27FC236}">
                <a16:creationId xmlns:a16="http://schemas.microsoft.com/office/drawing/2014/main" id="{F99462A9-1BBB-413F-A53A-9D45C6A2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6508155"/>
            <a:ext cx="7223762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IndustReal — Procedure Intelligence Architecture</a:t>
            </a:r>
          </a:p>
        </p:txBody>
      </p:sp>
      <p:sp>
        <p:nvSpPr>
          <p:cNvPr id="135" name="Text 53">
            <a:extLst xmlns:a="http://schemas.openxmlformats.org/drawingml/2006/main">
              <a:ext uri="{FF2B5EF4-FFF2-40B4-BE49-F238E27FC236}">
                <a16:creationId xmlns:a16="http://schemas.microsoft.com/office/drawing/2014/main" id="{8B00652E-DB27-4353-B47B-BA47C8C3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79" y="6508155"/>
            <a:ext cx="274321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r"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717617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B8C311F-7253-4AED-9701-7FC0708C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384209-CB15-4CDF-9D31-C44FD9A3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>
            <a:off x="2666617" y="-2666188"/>
            <a:ext cx="6858000" cy="1219123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633B3B5-CC90-43F0-8714-D31D1F3F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-2311" y="0"/>
            <a:ext cx="9070846" cy="685757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8D57A06-A426-446D-B02C-A2DC6B62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>
            <a:off x="3649491" y="-1685840"/>
            <a:ext cx="4894564" cy="1219354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c9fe973a945a7">
            <a:extLst>
              <a:ext uri="{96DAC541-7B7A-43D3-8B79-37D633B846F1}">
                <asvg:svgBlip xmlns:asvg="http://schemas.microsoft.com/office/drawing/2016/SVG/main" r:embed="R40607d8908884b7f"/>
              </a:ext>
            </a:extLst>
          </a:blip>
          <a:srcRect xmlns:a="http://schemas.openxmlformats.org/drawingml/2006/main" l="0" t="6306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57200" y="457200"/>
            <a:ext cx="11277600" cy="59436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b89b8928644df">
            <a:extLst>
              <a:ext uri="{96DAC541-7B7A-43D3-8B79-37D633B846F1}">
                <asvg:svgBlip xmlns:asvg="http://schemas.microsoft.com/office/drawing/2016/SVG/main" r:embed="Rd6205146615743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84933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Text 0">
            <a:extLst xmlns:a="http://schemas.openxmlformats.org/drawingml/2006/main">
              <a:ext uri="{FF2B5EF4-FFF2-40B4-BE49-F238E27FC236}">
                <a16:creationId xmlns:a16="http://schemas.microsoft.com/office/drawing/2014/main" id="{87B20774-AB69-4EF6-B4D8-0BBF0FAC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432307"/>
            <a:ext cx="11155682" cy="4114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700" b="1">
                <a:solidFill>
                  <a:srgbClr val="1A2733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Mistakes are detected by three independent residuals</a:t>
            </a:r>
          </a:p>
        </p:txBody>
      </p:sp>
      <p:sp>
        <p:nvSpPr>
          <p:cNvPr id="180" name="Text 1">
            <a:extLst xmlns:a="http://schemas.openxmlformats.org/drawingml/2006/main">
              <a:ext uri="{FF2B5EF4-FFF2-40B4-BE49-F238E27FC236}">
                <a16:creationId xmlns:a16="http://schemas.microsoft.com/office/drawing/2014/main" id="{AD6F3A8B-0140-4141-93CD-4144DAB2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1009327"/>
            <a:ext cx="11155682" cy="1981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300" i="1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Procedure mismatch + normal-prototype distance + action-effect contradiction</a:t>
            </a:r>
          </a:p>
        </p:txBody>
      </p:sp>
      <p:sp>
        <p:nvSpPr>
          <p:cNvPr id="181" name="Shape 2">
            <a:extLst xmlns:a="http://schemas.openxmlformats.org/drawingml/2006/main">
              <a:ext uri="{FF2B5EF4-FFF2-40B4-BE49-F238E27FC236}">
                <a16:creationId xmlns:a16="http://schemas.microsoft.com/office/drawing/2014/main" id="{56A060F9-E2B5-44C5-AB77-6DB31BAB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800" y="1521775"/>
            <a:ext cx="4160521" cy="3246121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5875">
            <a:solidFill>
              <a:srgbClr val="1C7293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82" name="Text 3">
            <a:extLst xmlns:a="http://schemas.openxmlformats.org/drawingml/2006/main">
              <a:ext uri="{FF2B5EF4-FFF2-40B4-BE49-F238E27FC236}">
                <a16:creationId xmlns:a16="http://schemas.microsoft.com/office/drawing/2014/main" id="{836C339A-8158-4081-905B-00D1F6B1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3832" y="1729293"/>
            <a:ext cx="3648457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1C5266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Why it works</a:t>
            </a:r>
          </a:p>
        </p:txBody>
      </p:sp>
      <p:sp>
        <p:nvSpPr>
          <p:cNvPr id="183" name="Text 4">
            <a:extLst xmlns:a="http://schemas.openxmlformats.org/drawingml/2006/main">
              <a:ext uri="{FF2B5EF4-FFF2-40B4-BE49-F238E27FC236}">
                <a16:creationId xmlns:a16="http://schemas.microsoft.com/office/drawing/2014/main" id="{FF26C404-0E89-42DC-9DA6-99052F8D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3832" y="2070415"/>
            <a:ext cx="3648457" cy="197081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999"/>
              </a:lnSpc>
              <a:buNone/>
              <a:defRPr sz="1125" b="1">
                <a:solidFill>
                  <a:srgbClr val="2A4C5A"/>
                </a:solidFill>
              </a:defRPr>
            </a:pPr>
            <a:r>
              <a:rPr sz="1125" b="1">
                <a:solidFill>
                  <a:srgbClr val="2A4C5A"/>
                </a:solidFill>
              </a:rPr>
              <a:t>Procedure residual.</a:t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1125">
                <a:solidFill>
                  <a:srgbClr val="2A4C5A"/>
                </a:solidFill>
              </a:defRPr>
            </a:pPr>
            <a:r>
              <a:rPr sz="1125">
                <a:solidFill>
                  <a:srgbClr val="2A4C5A"/>
                </a:solidFill>
              </a:rPr>
              <a:t>Compare the observed action with every valid next action in the current task-graph belief.</a:t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700">
                <a:solidFill>
                  <a:srgbClr val="2A4C5A"/>
                </a:solidFill>
              </a:defRPr>
            </a:pPr>
            <a:r>
              <a:t/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1125" b="1">
                <a:solidFill>
                  <a:srgbClr val="2A4C5A"/>
                </a:solidFill>
              </a:defRPr>
            </a:pPr>
            <a:r>
              <a:rPr sz="1125" b="1">
                <a:solidFill>
                  <a:srgbClr val="2A4C5A"/>
                </a:solidFill>
              </a:rPr>
              <a:t>Execution residual.</a:t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1125">
                <a:solidFill>
                  <a:srgbClr val="2A4C5A"/>
                </a:solidFill>
              </a:defRPr>
            </a:pPr>
            <a:r>
              <a:rPr sz="1125">
                <a:solidFill>
                  <a:srgbClr val="2A4C5A"/>
                </a:solidFill>
              </a:rPr>
              <a:t>Compare the live segment with multiple history-conditioned normal prototypes.</a:t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700">
                <a:solidFill>
                  <a:srgbClr val="2A4C5A"/>
                </a:solidFill>
              </a:defRPr>
            </a:pPr>
            <a:r>
              <a:t/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1125" b="1">
                <a:solidFill>
                  <a:srgbClr val="2A4C5A"/>
                </a:solidFill>
              </a:defRPr>
            </a:pPr>
            <a:r>
              <a:rPr sz="1125" b="1">
                <a:solidFill>
                  <a:srgbClr val="2A4C5A"/>
                </a:solidFill>
              </a:rPr>
              <a:t>Effect residual.</a:t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1125">
                <a:solidFill>
                  <a:srgbClr val="2A4C5A"/>
                </a:solidFill>
              </a:defRPr>
            </a:pPr>
            <a:r>
              <a:rPr sz="1125">
                <a:solidFill>
                  <a:srgbClr val="2A4C5A"/>
                </a:solidFill>
              </a:rPr>
              <a:t>Contrast predicted state delta with the observed relation graph after contact.</a:t>
            </a:r>
          </a:p>
        </p:txBody>
      </p:sp>
      <p:sp>
        <p:nvSpPr>
          <p:cNvPr id="184" name="Shape 5">
            <a:extLst xmlns:a="http://schemas.openxmlformats.org/drawingml/2006/main">
              <a:ext uri="{FF2B5EF4-FFF2-40B4-BE49-F238E27FC236}">
                <a16:creationId xmlns:a16="http://schemas.microsoft.com/office/drawing/2014/main" id="{8C35097C-3B42-497A-8E6D-813162EB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5457313"/>
            <a:ext cx="11155682" cy="960121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2700">
            <a:solidFill>
              <a:srgbClr val="DCE4EB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85" name="Text 6">
            <a:extLst xmlns:a="http://schemas.openxmlformats.org/drawingml/2006/main">
              <a:ext uri="{FF2B5EF4-FFF2-40B4-BE49-F238E27FC236}">
                <a16:creationId xmlns:a16="http://schemas.microsoft.com/office/drawing/2014/main" id="{84562D7A-ECE6-4683-BB4D-2AC822B3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5761338"/>
            <a:ext cx="10698481" cy="3767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050" b="1">
                <a:solidFill>
                  <a:srgbClr val="1A2733"/>
                </a:solidFill>
              </a:defRPr>
            </a:pPr>
            <a:r>
              <a:rPr sz="1050" b="1">
                <a:solidFill>
                  <a:srgbClr val="1A2733"/>
                </a:solidFill>
              </a:rPr>
              <a:t>Fuse the three residuals into known type / UNKNOWN, violated semantic role, PNR, evidence ROI and confidence. Package four key moments—before, contact, PNR, effect—for human review or event-triggered VLM adjudication. This follows the structure exposed by AMNAR, EgoPED, AXG-Reasoner, MATT and action-effect modeling.</a:t>
            </a:r>
          </a:p>
        </p:txBody>
      </p:sp>
      <p:sp>
        <p:nvSpPr>
          <p:cNvPr id="186" name="Text 7">
            <a:extLst xmlns:a="http://schemas.openxmlformats.org/drawingml/2006/main">
              <a:ext uri="{FF2B5EF4-FFF2-40B4-BE49-F238E27FC236}">
                <a16:creationId xmlns:a16="http://schemas.microsoft.com/office/drawing/2014/main" id="{18A2A43F-89EA-4B19-B931-1EF4E934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6508155"/>
            <a:ext cx="7223762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IndustReal — Procedure Intelligence Architecture</a:t>
            </a:r>
          </a:p>
        </p:txBody>
      </p:sp>
      <p:sp>
        <p:nvSpPr>
          <p:cNvPr id="187" name="Text 8">
            <a:extLst xmlns:a="http://schemas.openxmlformats.org/drawingml/2006/main">
              <a:ext uri="{FF2B5EF4-FFF2-40B4-BE49-F238E27FC236}">
                <a16:creationId xmlns:a16="http://schemas.microsoft.com/office/drawing/2014/main" id="{E34F8E41-137A-4B8E-AB84-F5059B2B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79" y="6508155"/>
            <a:ext cx="274321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r"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23</a:t>
            </a:r>
          </a:p>
        </p:txBody>
      </p:sp>
      <p:pic>
        <p:nvPicPr>
          <p:cNvPr id="199" name="industreal_psr_v3_dual_backbone_conca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991634a6b4a4c">
            <a:extLst>
              <a:ext uri="{96DAC541-7B7A-43D3-8B79-37D633B846F1}">
                <asvg:svgBlip xmlns:asvg="http://schemas.microsoft.com/office/drawing/2016/SVG/main" r:embed="R52f26b9e2f2b4d1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506730" y="1301404"/>
            <a:ext cx="3843911" cy="4065188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2ea16f7d84201">
            <a:extLst>
              <a:ext uri="{96DAC541-7B7A-43D3-8B79-37D633B846F1}">
                <asvg:svgBlip xmlns:asvg="http://schemas.microsoft.com/office/drawing/2016/SVG/main" r:embed="R68659ecc872a4d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06730" y="1301404"/>
            <a:ext cx="3843911" cy="40651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575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B8C311F-7253-4AED-9701-7FC0708C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384209-CB15-4CDF-9D31-C44FD9A3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>
            <a:off x="2666617" y="-2666188"/>
            <a:ext cx="6858000" cy="1219123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633B3B5-CC90-43F0-8714-D31D1F3F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-2311" y="0"/>
            <a:ext cx="9070846" cy="685757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8D57A06-A426-446D-B02C-A2DC6B62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>
            <a:off x="3649491" y="-1685840"/>
            <a:ext cx="4894564" cy="1219354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e4774c18349a7">
            <a:extLst>
              <a:ext uri="{96DAC541-7B7A-43D3-8B79-37D633B846F1}">
                <asvg:svgBlip xmlns:asvg="http://schemas.microsoft.com/office/drawing/2016/SVG/main" r:embed="Re8f63dd3991c477c"/>
              </a:ext>
            </a:extLst>
          </a:blip>
          <a:srcRect xmlns:a="http://schemas.openxmlformats.org/drawingml/2006/main" l="0" t="6306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57200" y="457200"/>
            <a:ext cx="11277600" cy="59436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572c0cd07458b">
            <a:extLst>
              <a:ext uri="{96DAC541-7B7A-43D3-8B79-37D633B846F1}">
                <asvg:svgBlip xmlns:asvg="http://schemas.microsoft.com/office/drawing/2016/SVG/main" r:embed="Rca717862088342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84933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Text 0">
            <a:extLst xmlns:a="http://schemas.openxmlformats.org/drawingml/2006/main">
              <a:ext uri="{FF2B5EF4-FFF2-40B4-BE49-F238E27FC236}">
                <a16:creationId xmlns:a16="http://schemas.microsoft.com/office/drawing/2014/main" id="{87B20774-AB69-4EF6-B4D8-0BBF0FAC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432307"/>
            <a:ext cx="11155682" cy="4114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700" b="1">
                <a:solidFill>
                  <a:srgbClr val="1A2733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Recovery is constrained graph search, not free-form generation</a:t>
            </a:r>
          </a:p>
        </p:txBody>
      </p:sp>
      <p:sp>
        <p:nvSpPr>
          <p:cNvPr id="180" name="Text 1">
            <a:extLst xmlns:a="http://schemas.openxmlformats.org/drawingml/2006/main">
              <a:ext uri="{FF2B5EF4-FFF2-40B4-BE49-F238E27FC236}">
                <a16:creationId xmlns:a16="http://schemas.microsoft.com/office/drawing/2014/main" id="{AD6F3A8B-0140-4141-93CD-4144DAB2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1009327"/>
            <a:ext cx="11155682" cy="1981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300" i="1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Predict future state in latent predicates; select only approved repair operations</a:t>
            </a:r>
          </a:p>
        </p:txBody>
      </p:sp>
      <p:sp>
        <p:nvSpPr>
          <p:cNvPr id="181" name="Shape 2">
            <a:extLst xmlns:a="http://schemas.openxmlformats.org/drawingml/2006/main">
              <a:ext uri="{FF2B5EF4-FFF2-40B4-BE49-F238E27FC236}">
                <a16:creationId xmlns:a16="http://schemas.microsoft.com/office/drawing/2014/main" id="{56A060F9-E2B5-44C5-AB77-6DB31BAB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800" y="1521775"/>
            <a:ext cx="4160521" cy="3246121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5875">
            <a:solidFill>
              <a:srgbClr val="1C7293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82" name="Text 3">
            <a:extLst xmlns:a="http://schemas.openxmlformats.org/drawingml/2006/main">
              <a:ext uri="{FF2B5EF4-FFF2-40B4-BE49-F238E27FC236}">
                <a16:creationId xmlns:a16="http://schemas.microsoft.com/office/drawing/2014/main" id="{836C339A-8158-4081-905B-00D1F6B1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3832" y="1729293"/>
            <a:ext cx="3648457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1C5266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Guardrails</a:t>
            </a:r>
          </a:p>
        </p:txBody>
      </p:sp>
      <p:sp>
        <p:nvSpPr>
          <p:cNvPr id="183" name="Text 4">
            <a:extLst xmlns:a="http://schemas.openxmlformats.org/drawingml/2006/main">
              <a:ext uri="{FF2B5EF4-FFF2-40B4-BE49-F238E27FC236}">
                <a16:creationId xmlns:a16="http://schemas.microsoft.com/office/drawing/2014/main" id="{FF26C404-0E89-42DC-9DA6-99052F8D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3832" y="2070415"/>
            <a:ext cx="3648457" cy="197081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999"/>
              </a:lnSpc>
              <a:buNone/>
              <a:defRPr sz="1125" b="1">
                <a:solidFill>
                  <a:srgbClr val="2A4C5A"/>
                </a:solidFill>
              </a:defRPr>
            </a:pPr>
            <a:r>
              <a:rPr sz="1125" b="1">
                <a:solidFill>
                  <a:srgbClr val="2A4C5A"/>
                </a:solidFill>
              </a:rPr>
              <a:t>Anticipate.</a:t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1125">
                <a:solidFill>
                  <a:srgbClr val="2A4C5A"/>
                </a:solidFill>
              </a:defRPr>
            </a:pPr>
            <a:r>
              <a:rPr sz="1125">
                <a:solidFill>
                  <a:srgbClr val="2A4C5A"/>
                </a:solidFill>
              </a:rPr>
              <a:t>Predict valid next actions at horizons 1 / 3 / 5 and the resulting part-relation graph.</a:t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700">
                <a:solidFill>
                  <a:srgbClr val="2A4C5A"/>
                </a:solidFill>
              </a:defRPr>
            </a:pPr>
            <a:r>
              <a:t/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1125" b="1">
                <a:solidFill>
                  <a:srgbClr val="2A4C5A"/>
                </a:solidFill>
              </a:defRPr>
            </a:pPr>
            <a:r>
              <a:rPr sz="1125" b="1">
                <a:solidFill>
                  <a:srgbClr val="2A4C5A"/>
                </a:solidFill>
              </a:rPr>
              <a:t>Score risk.</a:t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1125">
                <a:solidFill>
                  <a:srgbClr val="2A4C5A"/>
                </a:solidFill>
              </a:defRPr>
            </a:pPr>
            <a:r>
              <a:rPr sz="1125">
                <a:solidFill>
                  <a:srgbClr val="2A4C5A"/>
                </a:solidFill>
              </a:rPr>
              <a:t>Estimate failure probability, uncertainty and irreversible state transitions.</a:t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700">
                <a:solidFill>
                  <a:srgbClr val="2A4C5A"/>
                </a:solidFill>
              </a:defRPr>
            </a:pPr>
            <a:r>
              <a:t/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1125" b="1">
                <a:solidFill>
                  <a:srgbClr val="2A4C5A"/>
                </a:solidFill>
              </a:defRPr>
            </a:pPr>
            <a:r>
              <a:rPr sz="1125" b="1">
                <a:solidFill>
                  <a:srgbClr val="2A4C5A"/>
                </a:solidFill>
              </a:rPr>
              <a:t>Repair safely.</a:t>
            </a:r>
          </a:p>
          <a:p xmlns:a="http://schemas.openxmlformats.org/drawingml/2006/main">
            <a:pPr>
              <a:lnSpc>
                <a:spcPct val="105999"/>
              </a:lnSpc>
              <a:buNone/>
              <a:defRPr sz="1125">
                <a:solidFill>
                  <a:srgbClr val="2A4C5A"/>
                </a:solidFill>
              </a:defRPr>
            </a:pPr>
            <a:r>
              <a:rPr sz="1125">
                <a:solidFill>
                  <a:srgbClr val="2A4C5A"/>
                </a:solidFill>
              </a:rPr>
              <a:t>Search a versioned recovery graph for the shortest verified route to a valid state; escalation is always allowed.</a:t>
            </a:r>
          </a:p>
        </p:txBody>
      </p:sp>
      <p:sp>
        <p:nvSpPr>
          <p:cNvPr id="184" name="Shape 5">
            <a:extLst xmlns:a="http://schemas.openxmlformats.org/drawingml/2006/main">
              <a:ext uri="{FF2B5EF4-FFF2-40B4-BE49-F238E27FC236}">
                <a16:creationId xmlns:a16="http://schemas.microsoft.com/office/drawing/2014/main" id="{8C35097C-3B42-497A-8E6D-813162EB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5457313"/>
            <a:ext cx="11155682" cy="960121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2700">
            <a:solidFill>
              <a:srgbClr val="DCE4EB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85" name="Text 6">
            <a:extLst xmlns:a="http://schemas.openxmlformats.org/drawingml/2006/main">
              <a:ext uri="{FF2B5EF4-FFF2-40B4-BE49-F238E27FC236}">
                <a16:creationId xmlns:a16="http://schemas.microsoft.com/office/drawing/2014/main" id="{84562D7A-ECE6-4683-BB4D-2AC822B3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5761338"/>
            <a:ext cx="10698481" cy="37673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25" b="1">
                <a:solidFill>
                  <a:srgbClr val="1A2733"/>
                </a:solidFill>
              </a:defRPr>
            </a:pPr>
            <a:r>
              <a:rPr sz="1125" b="1">
                <a:solidFill>
                  <a:srgbClr val="1A2733"/>
                </a:solidFill>
              </a:rPr>
              <a:t>A VLM may phrase the approved plan, explain evidence and retrieve an expert clip. It cannot invent a repair operation. Re-run state verification after every correction and stop when evidence is uncertain, the operation is unapproved or damage is possible.</a:t>
            </a:r>
          </a:p>
        </p:txBody>
      </p:sp>
      <p:sp>
        <p:nvSpPr>
          <p:cNvPr id="186" name="Text 7">
            <a:extLst xmlns:a="http://schemas.openxmlformats.org/drawingml/2006/main">
              <a:ext uri="{FF2B5EF4-FFF2-40B4-BE49-F238E27FC236}">
                <a16:creationId xmlns:a16="http://schemas.microsoft.com/office/drawing/2014/main" id="{18A2A43F-89EA-4B19-B931-1EF4E934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6508155"/>
            <a:ext cx="7223762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IndustReal — Procedure Intelligence Architecture</a:t>
            </a:r>
          </a:p>
        </p:txBody>
      </p:sp>
      <p:sp>
        <p:nvSpPr>
          <p:cNvPr id="187" name="Text 8">
            <a:extLst xmlns:a="http://schemas.openxmlformats.org/drawingml/2006/main">
              <a:ext uri="{FF2B5EF4-FFF2-40B4-BE49-F238E27FC236}">
                <a16:creationId xmlns:a16="http://schemas.microsoft.com/office/drawing/2014/main" id="{E34F8E41-137A-4B8E-AB84-F5059B2B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79" y="6508155"/>
            <a:ext cx="274321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r"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25</a:t>
            </a:r>
          </a:p>
        </p:txBody>
      </p:sp>
      <p:pic>
        <p:nvPicPr>
          <p:cNvPr id="199" name="industreal_psr_v3_dual_backbone_concat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9e331c2d446cd">
            <a:extLst>
              <a:ext uri="{96DAC541-7B7A-43D3-8B79-37D633B846F1}">
                <asvg:svgBlip xmlns:asvg="http://schemas.microsoft.com/office/drawing/2016/SVG/main" r:embed="R5d4674d0d1ba448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506730" y="1301404"/>
            <a:ext cx="3843911" cy="4065188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37d7e200f4d34">
            <a:extLst>
              <a:ext uri="{96DAC541-7B7A-43D3-8B79-37D633B846F1}">
                <asvg:svgBlip xmlns:asvg="http://schemas.microsoft.com/office/drawing/2016/SVG/main" r:embed="Rced2bf32a9604b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06730" y="1301404"/>
            <a:ext cx="3843911" cy="40651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575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Text 0">
            <a:extLst xmlns:a="http://schemas.openxmlformats.org/drawingml/2006/main">
              <a:ext uri="{FF2B5EF4-FFF2-40B4-BE49-F238E27FC236}">
                <a16:creationId xmlns:a16="http://schemas.microsoft.com/office/drawing/2014/main" id="{3065B6C7-05C0-47AB-9B19-9024D0ED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432307"/>
            <a:ext cx="11155682" cy="4114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700" b="1">
                <a:solidFill>
                  <a:srgbClr val="1A2733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Candidate A is the only complete first build</a:t>
            </a:r>
          </a:p>
        </p:txBody>
      </p:sp>
      <p:sp>
        <p:nvSpPr>
          <p:cNvPr id="140" name="Text 1">
            <a:extLst xmlns:a="http://schemas.openxmlformats.org/drawingml/2006/main">
              <a:ext uri="{FF2B5EF4-FFF2-40B4-BE49-F238E27FC236}">
                <a16:creationId xmlns:a16="http://schemas.microsoft.com/office/drawing/2014/main" id="{3C68DC41-E7CD-48F3-B159-60F42590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1009327"/>
            <a:ext cx="11155682" cy="1981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300" i="1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Model choice is based on live operation, physical state, open-set errors and 24 GB feasibility</a:t>
            </a:r>
          </a:p>
        </p:txBody>
      </p:sp>
      <p:graphicFrame>
        <p:nvGraphicFramePr>
          <p:cNvPr id="151" name="Table 0"/>
          <p:cNvGraphicFramePr/>
          <p:nvPr/>
        </p:nvGraphicFramePr>
        <p:xfrm>
          <a:off xmlns:a="http://schemas.openxmlformats.org/drawingml/2006/main" x="502919" y="1417319"/>
          <a:ext xmlns:a="http://schemas.openxmlformats.org/drawingml/2006/main" cx="11155680" cy="2697480"/>
        </p:xfrm>
        <a:graphic xmlns:a="http://schemas.openxmlformats.org/drawingml/2006/main"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931920"/>
                <a:gridCol w="1097280"/>
                <a:gridCol w="1097280"/>
                <a:gridCol w="1234440"/>
                <a:gridCol w="1234440"/>
                <a:gridCol w="1234440"/>
                <a:gridCol w="1325880"/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Candidate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24 GB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Live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State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Unseen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Future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Current v2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Yes*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Weak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No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No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No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5B6B78"/>
                          </a:solidFill>
                        </a:rPr>
                        <a:t>Control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Dual giant concat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Yes*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Weak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No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No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No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5B6B78"/>
                          </a:solidFill>
                        </a:rPr>
                        <a:t>Ablation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A  StateGraph-PSR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Yes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Strong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Strong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Strong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Good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5B6B78"/>
                          </a:solidFill>
                        </a:rPr>
                        <a:t>BUILD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2E8B6B"/>
                          </a:solidFill>
                        </a:rPr>
                        <a:t>B  P-JEPA context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E4F1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2E8B6B"/>
                          </a:solidFill>
                        </a:rPr>
                        <a:t>Yes*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E4F1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2E8B6B"/>
                          </a:solidFill>
                        </a:rPr>
                        <a:t>Strong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E4F1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2E8B6B"/>
                          </a:solidFill>
                        </a:rPr>
                        <a:t>Medium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E4F1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2E8B6B"/>
                          </a:solidFill>
                        </a:rPr>
                        <a:t>Medium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E4F1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2E8B6B"/>
                          </a:solidFill>
                        </a:rPr>
                        <a:t>Strong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E4F1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5B6B78"/>
                          </a:solidFill>
                        </a:rPr>
                        <a:t>Phase 2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E4F1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C  Triggered VLM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Yes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Event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Semantic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Medium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Good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1C7293"/>
                          </a:solidFill>
                        </a:rPr>
                        <a:t>Add-on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2" name="Shape 2">
            <a:extLst xmlns:a="http://schemas.openxmlformats.org/drawingml/2006/main">
              <a:ext uri="{FF2B5EF4-FFF2-40B4-BE49-F238E27FC236}">
                <a16:creationId xmlns:a16="http://schemas.microsoft.com/office/drawing/2014/main" id="{B79F9580-4157-4E3A-979C-B84C6DC1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4709159"/>
            <a:ext cx="5440681" cy="1417321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4F1E9"/>
          </a:solidFill>
          <a:ln xmlns:a="http://schemas.openxmlformats.org/drawingml/2006/main" w="12700">
            <a:solidFill>
              <a:srgbClr val="2E8B6B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43" name="Text 3">
            <a:extLst xmlns:a="http://schemas.openxmlformats.org/drawingml/2006/main">
              <a:ext uri="{FF2B5EF4-FFF2-40B4-BE49-F238E27FC236}">
                <a16:creationId xmlns:a16="http://schemas.microsoft.com/office/drawing/2014/main" id="{1D76E502-CCD2-474E-AB3D-C15F943C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4892040"/>
            <a:ext cx="5029201" cy="7848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050" b="1">
                <a:solidFill>
                  <a:srgbClr val="20624A"/>
                </a:solidFill>
              </a:defRPr>
            </a:pPr>
            <a:r>
              <a:rPr sz="1050" b="1">
                <a:solidFill>
                  <a:srgbClr val="20624A"/>
                </a:solidFill>
              </a:rPr>
              <a:t>Recommendation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400" b="1">
                <a:solidFill>
                  <a:srgbClr val="20624A"/>
                </a:solidFill>
              </a:defRPr>
            </a:pPr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50">
                <a:solidFill>
                  <a:srgbClr val="2C4A3C"/>
                </a:solidFill>
              </a:defRPr>
            </a:pPr>
            <a:r>
              <a:rPr sz="1050">
                <a:solidFill>
                  <a:srgbClr val="2C4A3C"/>
                </a:solidFill>
              </a:rPr>
              <a:t>Build Candidate A first. It is the only design that closes the loop from action → state → mistake → future → approved recovery while remaining trainable on one 24 GB GPU.</a:t>
            </a:r>
          </a:p>
        </p:txBody>
      </p:sp>
      <p:sp>
        <p:nvSpPr>
          <p:cNvPr id="144" name="Shape 4">
            <a:extLst xmlns:a="http://schemas.openxmlformats.org/drawingml/2006/main">
              <a:ext uri="{FF2B5EF4-FFF2-40B4-BE49-F238E27FC236}">
                <a16:creationId xmlns:a16="http://schemas.microsoft.com/office/drawing/2014/main" id="{2E824E53-1559-459D-A361-AC03FCFA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709159"/>
            <a:ext cx="5440680" cy="1417321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700">
            <a:solidFill>
              <a:srgbClr val="1C7293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45" name="Text 5">
            <a:extLst xmlns:a="http://schemas.openxmlformats.org/drawingml/2006/main">
              <a:ext uri="{FF2B5EF4-FFF2-40B4-BE49-F238E27FC236}">
                <a16:creationId xmlns:a16="http://schemas.microsoft.com/office/drawing/2014/main" id="{EB5B6446-B64C-4916-BFE6-DE67E964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892040"/>
            <a:ext cx="5029201" cy="7848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050" b="1">
                <a:solidFill>
                  <a:srgbClr val="1C5266"/>
                </a:solidFill>
              </a:defRPr>
            </a:pPr>
            <a:r>
              <a:rPr sz="1050" b="1">
                <a:solidFill>
                  <a:srgbClr val="1C5266"/>
                </a:solidFill>
              </a:rPr>
              <a:t>VLM role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400" b="1">
                <a:solidFill>
                  <a:srgbClr val="1C5266"/>
                </a:solidFill>
              </a:defRPr>
            </a:pPr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50">
                <a:solidFill>
                  <a:srgbClr val="2A4C5A"/>
                </a:solidFill>
              </a:defRPr>
            </a:pPr>
            <a:r>
              <a:rPr sz="1050">
                <a:solidFill>
                  <a:srgbClr val="2A4C5A"/>
                </a:solidFill>
              </a:rPr>
              <a:t>Use Qwen3-VL-4B/8B in 4-bit or ProVideLLM only for event-triggered adjudication, explanation and evidence retrieval—not as the sole safety detector.</a:t>
            </a:r>
          </a:p>
        </p:txBody>
      </p:sp>
      <p:sp>
        <p:nvSpPr>
          <p:cNvPr id="146" name="Text 6">
            <a:extLst xmlns:a="http://schemas.openxmlformats.org/drawingml/2006/main">
              <a:ext uri="{FF2B5EF4-FFF2-40B4-BE49-F238E27FC236}">
                <a16:creationId xmlns:a16="http://schemas.microsoft.com/office/drawing/2014/main" id="{7F779A33-2601-48BE-B6E9-2D65EEF9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6508155"/>
            <a:ext cx="7223762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IndustReal — Procedure Intelligence Architecture</a:t>
            </a:r>
          </a:p>
        </p:txBody>
      </p:sp>
      <p:sp>
        <p:nvSpPr>
          <p:cNvPr id="147" name="Text 7">
            <a:extLst xmlns:a="http://schemas.openxmlformats.org/drawingml/2006/main">
              <a:ext uri="{FF2B5EF4-FFF2-40B4-BE49-F238E27FC236}">
                <a16:creationId xmlns:a16="http://schemas.microsoft.com/office/drawing/2014/main" id="{5ACA28DB-0D81-45A1-BAB3-D7D11163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79" y="6508155"/>
            <a:ext cx="274321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r"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781926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Text 0">
            <a:extLst xmlns:a="http://schemas.openxmlformats.org/drawingml/2006/main">
              <a:ext uri="{FF2B5EF4-FFF2-40B4-BE49-F238E27FC236}">
                <a16:creationId xmlns:a16="http://schemas.microsoft.com/office/drawing/2014/main" id="{3065B6C7-05C0-47AB-9B19-9024D0ED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432307"/>
            <a:ext cx="11155682" cy="4114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700" b="1">
                <a:solidFill>
                  <a:srgbClr val="1A2733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The experiment sequence isolates one architectural question at a time</a:t>
            </a:r>
          </a:p>
        </p:txBody>
      </p:sp>
      <p:sp>
        <p:nvSpPr>
          <p:cNvPr id="140" name="Text 1">
            <a:extLst xmlns:a="http://schemas.openxmlformats.org/drawingml/2006/main">
              <a:ext uri="{FF2B5EF4-FFF2-40B4-BE49-F238E27FC236}">
                <a16:creationId xmlns:a16="http://schemas.microsoft.com/office/drawing/2014/main" id="{3C68DC41-E7CD-48F3-B159-60F42590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1009327"/>
            <a:ext cx="11155682" cy="1981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300" i="1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Advance only when step accuracy, false-alert rate and calibration improve together</a:t>
            </a:r>
          </a:p>
        </p:txBody>
      </p:sp>
      <p:graphicFrame>
        <p:nvGraphicFramePr>
          <p:cNvPr id="151" name="Table 0"/>
          <p:cNvGraphicFramePr/>
          <p:nvPr/>
        </p:nvGraphicFramePr>
        <p:xfrm>
          <a:off xmlns:a="http://schemas.openxmlformats.org/drawingml/2006/main" x="502919" y="1417319"/>
          <a:ext xmlns:a="http://schemas.openxmlformats.org/drawingml/2006/main" cx="11155680" cy="2697480"/>
        </p:xfrm>
        <a:graphic xmlns:a="http://schemas.openxmlformats.org/drawingml/2006/main"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931920"/>
                <a:gridCol w="1097280"/>
                <a:gridCol w="1097280"/>
                <a:gridCol w="1234440"/>
                <a:gridCol w="1234440"/>
                <a:gridCol w="1234440"/>
                <a:gridCol w="1325880"/>
              </a:tblGrid>
              <a:tr h="411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State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Mistake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Latency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Advance if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E0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Reproduce v2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F1/Edit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—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Recall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Offline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5B6B78"/>
                          </a:solidFill>
                        </a:rPr>
                        <a:t>Within ±1 pt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E1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Causal FACT-lite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Online F1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—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—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p95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5B6B78"/>
                          </a:solidFill>
                        </a:rPr>
                        <a:t>+F1, ≤1 s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E2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Adapters + state ROIs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F1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mAP/F1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Type F1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p95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5B6B78"/>
                          </a:solidFill>
                        </a:rPr>
                        <a:t>+state, stable step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2E8B6B"/>
                          </a:solidFill>
                        </a:rPr>
                        <a:t>E3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E4F1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2E8B6B"/>
                          </a:solidFill>
                        </a:rPr>
                        <a:t>Task graph + residuals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E4F1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2E8B6B"/>
                          </a:solidFill>
                        </a:rPr>
                        <a:t>Edit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E4F1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2E8B6B"/>
                          </a:solidFill>
                        </a:rPr>
                        <a:t>Graph F1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E4F1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2E8B6B"/>
                          </a:solidFill>
                        </a:rPr>
                        <a:t>AUROC/FAR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E4F1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2E8B6B"/>
                          </a:solidFill>
                        </a:rPr>
                        <a:t>delay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E4F1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5B6B78"/>
                          </a:solidFill>
                        </a:rPr>
                        <a:t>+unseen, fewer alerts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E4F1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E4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P-JEPA / VLM add-ons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F1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Graph F1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macro-F1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>
                          <a:solidFill>
                            <a:srgbClr val="1A2733"/>
                          </a:solidFill>
                        </a:rPr>
                        <a:t>GPU/RTF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solidFill>
                            <a:srgbClr val="1C7293"/>
                          </a:solidFill>
                        </a:rPr>
                        <a:t>Pareto improvement</a:t>
                      </a:r>
                    </a:p>
                  </a:txBody>
                  <a:tcPr marL="45720" marR="45720" marT="45720" marB="45720" anchor="ctr" horzOverflow="overflow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2" name="Shape 2">
            <a:extLst xmlns:a="http://schemas.openxmlformats.org/drawingml/2006/main">
              <a:ext uri="{FF2B5EF4-FFF2-40B4-BE49-F238E27FC236}">
                <a16:creationId xmlns:a16="http://schemas.microsoft.com/office/drawing/2014/main" id="{B79F9580-4157-4E3A-979C-B84C6DC1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4709159"/>
            <a:ext cx="5440681" cy="1417321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4F1E9"/>
          </a:solidFill>
          <a:ln xmlns:a="http://schemas.openxmlformats.org/drawingml/2006/main" w="12700">
            <a:solidFill>
              <a:srgbClr val="2E8B6B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43" name="Text 3">
            <a:extLst xmlns:a="http://schemas.openxmlformats.org/drawingml/2006/main">
              <a:ext uri="{FF2B5EF4-FFF2-40B4-BE49-F238E27FC236}">
                <a16:creationId xmlns:a16="http://schemas.microsoft.com/office/drawing/2014/main" id="{1D76E502-CCD2-474E-AB3D-C15F943C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4892040"/>
            <a:ext cx="5029201" cy="7848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75" b="1">
                <a:solidFill>
                  <a:srgbClr val="20624A"/>
                </a:solidFill>
              </a:defRPr>
            </a:pPr>
            <a:r>
              <a:rPr sz="975" b="1">
                <a:solidFill>
                  <a:srgbClr val="20624A"/>
                </a:solidFill>
              </a:rPr>
              <a:t>Release metrics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400" b="1">
                <a:solidFill>
                  <a:srgbClr val="20624A"/>
                </a:solidFill>
              </a:defRPr>
            </a:pPr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75">
                <a:solidFill>
                  <a:srgbClr val="2C4A3C"/>
                </a:solidFill>
              </a:defRPr>
            </a:pPr>
            <a:r>
              <a:rPr sz="975">
                <a:solidFill>
                  <a:srgbClr val="2C4A3C"/>
                </a:solidFill>
              </a:rPr>
              <a:t>Online F1@50 + edit; state-delta macro-F1; per-type recall; unseen-error AUROC; false alerts/hour; PNR delay; ECE / risk-coverage.</a:t>
            </a:r>
          </a:p>
        </p:txBody>
      </p:sp>
      <p:sp>
        <p:nvSpPr>
          <p:cNvPr id="144" name="Shape 4">
            <a:extLst xmlns:a="http://schemas.openxmlformats.org/drawingml/2006/main">
              <a:ext uri="{FF2B5EF4-FFF2-40B4-BE49-F238E27FC236}">
                <a16:creationId xmlns:a16="http://schemas.microsoft.com/office/drawing/2014/main" id="{2E824E53-1559-459D-A361-AC03FCFA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709159"/>
            <a:ext cx="5440680" cy="1417321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12700">
            <a:solidFill>
              <a:srgbClr val="1C7293"/>
            </a:solidFill>
          </a:ln>
          <a:effectLst xmlns:a="http://schemas.openxmlformats.org/drawingml/2006/main">
            <a:outerShdw blurRad="88900" dist="25400" dir="5400000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45" name="Text 5">
            <a:extLst xmlns:a="http://schemas.openxmlformats.org/drawingml/2006/main">
              <a:ext uri="{FF2B5EF4-FFF2-40B4-BE49-F238E27FC236}">
                <a16:creationId xmlns:a16="http://schemas.microsoft.com/office/drawing/2014/main" id="{EB5B6446-B64C-4916-BFE6-DE67E964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892040"/>
            <a:ext cx="5029201" cy="7848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75" b="1">
                <a:solidFill>
                  <a:srgbClr val="1C5266"/>
                </a:solidFill>
              </a:defRPr>
            </a:pPr>
            <a:r>
              <a:rPr sz="975" b="1">
                <a:solidFill>
                  <a:srgbClr val="1C5266"/>
                </a:solidFill>
              </a:rPr>
              <a:t>Pilot blockers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400" b="1">
                <a:solidFill>
                  <a:srgbClr val="1C5266"/>
                </a:solidFill>
              </a:defRPr>
            </a:pPr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75">
                <a:solidFill>
                  <a:srgbClr val="2A4C5A"/>
                </a:solidFill>
              </a:defRPr>
            </a:pPr>
            <a:r>
              <a:rPr sz="975">
                <a:solidFill>
                  <a:srgbClr val="2A4C5A"/>
                </a:solidFill>
              </a:rPr>
              <a:t>High-impact false negatives, nuisance false alerts, uncalibrated UNKNOWN decisions, unsafe repair suggestions or p95 alert delay above the operational limit.</a:t>
            </a:r>
          </a:p>
        </p:txBody>
      </p:sp>
      <p:sp>
        <p:nvSpPr>
          <p:cNvPr id="146" name="Text 6">
            <a:extLst xmlns:a="http://schemas.openxmlformats.org/drawingml/2006/main">
              <a:ext uri="{FF2B5EF4-FFF2-40B4-BE49-F238E27FC236}">
                <a16:creationId xmlns:a16="http://schemas.microsoft.com/office/drawing/2014/main" id="{7F779A33-2601-48BE-B6E9-2D65EEF9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" y="6508155"/>
            <a:ext cx="7223762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IndustReal — Procedure Intelligence Architecture</a:t>
            </a:r>
          </a:p>
        </p:txBody>
      </p:sp>
      <p:sp>
        <p:nvSpPr>
          <p:cNvPr id="147" name="Text 7">
            <a:extLst xmlns:a="http://schemas.openxmlformats.org/drawingml/2006/main">
              <a:ext uri="{FF2B5EF4-FFF2-40B4-BE49-F238E27FC236}">
                <a16:creationId xmlns:a16="http://schemas.microsoft.com/office/drawing/2014/main" id="{5ACA28DB-0D81-45A1-BAB3-D7D11163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79" y="6508155"/>
            <a:ext cx="274321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r">
              <a:buNone/>
              <a:defRPr sz="900">
                <a:solidFill>
                  <a:srgbClr val="5B6B78"/>
                </a:solidFill>
              </a:defRPr>
            </a:lvl1pPr>
          </a:lstStyle>
          <a:p xmlns:a="http://schemas.openxmlformats.org/drawingml/2006/main">
            <a: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781926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B8C311F-7253-4AED-9701-7FC0708C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384209-CB15-4CDF-9D31-C44FD9A3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>
            <a:off x="2666617" y="-2666188"/>
            <a:ext cx="6858000" cy="1219123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633B3B5-CC90-43F0-8714-D31D1F3F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-2311" y="0"/>
            <a:ext cx="9070846" cy="685757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8D57A06-A426-446D-B02C-A2DC6B62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1">
            <a:off x="3649491" y="-1685840"/>
            <a:ext cx="4894564" cy="1219354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b45ba9a354852">
            <a:extLst>
              <a:ext uri="{96DAC541-7B7A-43D3-8B79-37D633B846F1}">
                <asvg:svgBlip xmlns:asvg="http://schemas.microsoft.com/office/drawing/2016/SVG/main" r:embed="R4d49ac496878487d"/>
              </a:ext>
            </a:extLst>
          </a:blip>
          <a:srcRect xmlns:a="http://schemas.openxmlformats.org/drawingml/2006/main" l="0" t="6306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57200" y="457200"/>
            <a:ext cx="11277600" cy="594360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28e5f022f4db3">
            <a:extLst>
              <a:ext uri="{96DAC541-7B7A-43D3-8B79-37D633B846F1}">
                <asvg:svgBlip xmlns:asvg="http://schemas.microsoft.com/office/drawing/2016/SVG/main" r:embed="R1402d6132ab441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457200"/>
            <a:ext cx="11277600" cy="5943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84933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020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Text 0">
            <a:extLst xmlns:a="http://schemas.openxmlformats.org/drawingml/2006/main">
              <a:ext uri="{FF2B5EF4-FFF2-40B4-BE49-F238E27FC236}">
                <a16:creationId xmlns:a16="http://schemas.microsoft.com/office/drawing/2014/main" id="{13192D8D-BE61-4B19-96EE-1DC39E41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7689"/>
            <a:ext cx="10972801" cy="426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8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lvl1pPr>
          </a:lstStyle>
          <a:p xmlns:a="http://schemas.openxmlformats.org/drawingml/2006/main">
            <a:r>
              <a:t>A twelve-week plan reaches a pilot-ready architecture decision</a:t>
            </a:r>
          </a:p>
        </p:txBody>
      </p:sp>
      <p:sp>
        <p:nvSpPr>
          <p:cNvPr id="193" name="Shape 1">
            <a:extLst xmlns:a="http://schemas.openxmlformats.org/drawingml/2006/main">
              <a:ext uri="{FF2B5EF4-FFF2-40B4-BE49-F238E27FC236}">
                <a16:creationId xmlns:a16="http://schemas.microsoft.com/office/drawing/2014/main" id="{2C674529-67C8-4B3C-9EE9-D2A09773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515601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B3050"/>
          </a:solidFill>
          <a:ln xmlns:a="http://schemas.openxmlformats.org/drawingml/2006/main" w="12700">
            <a:solidFill>
              <a:srgbClr val="2C466B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94" name="Shape 2">
            <a:extLst xmlns:a="http://schemas.openxmlformats.org/drawingml/2006/main">
              <a:ext uri="{FF2B5EF4-FFF2-40B4-BE49-F238E27FC236}">
                <a16:creationId xmlns:a16="http://schemas.microsoft.com/office/drawing/2014/main" id="{6E811C5D-57F4-48BF-A2C8-8D04C879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755648"/>
            <a:ext cx="2286001" cy="60350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CB371">
              <a:alpha val="88000"/>
            </a:srgbClr>
          </a:solidFill>
          <a:ln xmlns:a="http://schemas.openxmlformats.org/drawingml/2006/main" w="15875">
            <a:solidFill>
              <a:srgbClr val="3CB37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95" name="Text 3">
            <a:extLst xmlns:a="http://schemas.openxmlformats.org/drawingml/2006/main">
              <a:ext uri="{FF2B5EF4-FFF2-40B4-BE49-F238E27FC236}">
                <a16:creationId xmlns:a16="http://schemas.microsoft.com/office/drawing/2014/main" id="{F6DDBD1D-34A3-4606-8D87-058D880F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17000"/>
            <a:ext cx="2194561" cy="304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sz="14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r>
              <a:t>Weeks 1–2</a:t>
            </a:r>
          </a:p>
        </p:txBody>
      </p:sp>
      <p:sp>
        <p:nvSpPr>
          <p:cNvPr id="196" name="Text 4">
            <a:extLst xmlns:a="http://schemas.openxmlformats.org/drawingml/2006/main">
              <a:ext uri="{FF2B5EF4-FFF2-40B4-BE49-F238E27FC236}">
                <a16:creationId xmlns:a16="http://schemas.microsoft.com/office/drawing/2014/main" id="{859B6605-97E9-4B45-8032-8DD03655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59" y="1974018"/>
            <a:ext cx="7498081" cy="40416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102000"/>
              </a:lnSpc>
              <a:buNone/>
              <a:defRPr sz="1300">
                <a:solidFill>
                  <a:srgbClr val="D7E3EF"/>
                </a:solidFill>
              </a:defRPr>
            </a:lvl1pPr>
          </a:lstStyle>
          <a:p xmlns:a="http://schemas.openxmlformats.org/drawingml/2006/main">
            <a:r>
              <a:t>Reproduce v2; define task graph, state predicates, error ontology and leakage-safe splits. Exit: baseline within ±1 point.</a:t>
            </a:r>
          </a:p>
        </p:txBody>
      </p:sp>
      <p:sp>
        <p:nvSpPr>
          <p:cNvPr id="197" name="Shape 5">
            <a:extLst xmlns:a="http://schemas.openxmlformats.org/drawingml/2006/main">
              <a:ext uri="{FF2B5EF4-FFF2-40B4-BE49-F238E27FC236}">
                <a16:creationId xmlns:a16="http://schemas.microsoft.com/office/drawing/2014/main" id="{268C1F34-0736-4B78-827E-ABD2B4AB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24911"/>
            <a:ext cx="10515601" cy="1005841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B3050"/>
          </a:solidFill>
          <a:ln xmlns:a="http://schemas.openxmlformats.org/drawingml/2006/main" w="12700">
            <a:solidFill>
              <a:srgbClr val="2C466B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98" name="Shape 6">
            <a:extLst xmlns:a="http://schemas.openxmlformats.org/drawingml/2006/main">
              <a:ext uri="{FF2B5EF4-FFF2-40B4-BE49-F238E27FC236}">
                <a16:creationId xmlns:a16="http://schemas.microsoft.com/office/drawing/2014/main" id="{1B02EF38-0DD8-45DF-A404-431512DA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26079"/>
            <a:ext cx="2286001" cy="60350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A65A">
              <a:alpha val="88000"/>
            </a:srgbClr>
          </a:solidFill>
          <a:ln xmlns:a="http://schemas.openxmlformats.org/drawingml/2006/main" w="15875">
            <a:solidFill>
              <a:srgbClr val="F2A65A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199" name="Text 7">
            <a:extLst xmlns:a="http://schemas.openxmlformats.org/drawingml/2006/main">
              <a:ext uri="{FF2B5EF4-FFF2-40B4-BE49-F238E27FC236}">
                <a16:creationId xmlns:a16="http://schemas.microsoft.com/office/drawing/2014/main" id="{7898C697-2E4A-4F93-B49A-46BBC4A5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87432"/>
            <a:ext cx="2194561" cy="304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sz="14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r>
              <a:t>Weeks 3–6</a:t>
            </a:r>
          </a:p>
        </p:txBody>
      </p:sp>
      <p:sp>
        <p:nvSpPr>
          <p:cNvPr id="200" name="Text 8">
            <a:extLst xmlns:a="http://schemas.openxmlformats.org/drawingml/2006/main">
              <a:ext uri="{FF2B5EF4-FFF2-40B4-BE49-F238E27FC236}">
                <a16:creationId xmlns:a16="http://schemas.microsoft.com/office/drawing/2014/main" id="{5E0BEE1D-AC34-4E5B-94D5-D59CC880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59" y="3144450"/>
            <a:ext cx="7498081" cy="40416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102000"/>
              </a:lnSpc>
              <a:buNone/>
              <a:defRPr sz="1300">
                <a:solidFill>
                  <a:srgbClr val="D7E3EF"/>
                </a:solidFill>
              </a:defRPr>
            </a:lvl1pPr>
          </a:lstStyle>
          <a:p xmlns:a="http://schemas.openxmlformats.org/drawingml/2006/main">
            <a:r>
              <a:t>Build causal FACT-lite + hand/tool/part relation graph + state-delta heads. Exit: step and state metrics improve together.</a:t>
            </a:r>
          </a:p>
        </p:txBody>
      </p:sp>
      <p:sp>
        <p:nvSpPr>
          <p:cNvPr id="201" name="Shape 9">
            <a:extLst xmlns:a="http://schemas.openxmlformats.org/drawingml/2006/main">
              <a:ext uri="{FF2B5EF4-FFF2-40B4-BE49-F238E27FC236}">
                <a16:creationId xmlns:a16="http://schemas.microsoft.com/office/drawing/2014/main" id="{D6ACE5F4-D1B6-4D06-9A71-9C1CBBF0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95344"/>
            <a:ext cx="10515601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B3050"/>
          </a:solidFill>
          <a:ln xmlns:a="http://schemas.openxmlformats.org/drawingml/2006/main" w="12700">
            <a:solidFill>
              <a:srgbClr val="2C466B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202" name="Shape 10">
            <a:extLst xmlns:a="http://schemas.openxmlformats.org/drawingml/2006/main">
              <a:ext uri="{FF2B5EF4-FFF2-40B4-BE49-F238E27FC236}">
                <a16:creationId xmlns:a16="http://schemas.microsoft.com/office/drawing/2014/main" id="{BADFED98-78C9-4168-B017-BAAC553D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96511"/>
            <a:ext cx="2286001" cy="60350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6FA8C9">
              <a:alpha val="88000"/>
            </a:srgbClr>
          </a:solidFill>
          <a:ln xmlns:a="http://schemas.openxmlformats.org/drawingml/2006/main" w="15875">
            <a:solidFill>
              <a:srgbClr val="6FA8C9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203" name="Text 11">
            <a:extLst xmlns:a="http://schemas.openxmlformats.org/drawingml/2006/main">
              <a:ext uri="{FF2B5EF4-FFF2-40B4-BE49-F238E27FC236}">
                <a16:creationId xmlns:a16="http://schemas.microsoft.com/office/drawing/2014/main" id="{5734A152-C684-4DA8-8E46-2A14CBCE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57864"/>
            <a:ext cx="2194561" cy="304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sz="14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r>
              <a:t>Weeks 7–9</a:t>
            </a:r>
          </a:p>
        </p:txBody>
      </p:sp>
      <p:sp>
        <p:nvSpPr>
          <p:cNvPr id="204" name="Text 12">
            <a:extLst xmlns:a="http://schemas.openxmlformats.org/drawingml/2006/main">
              <a:ext uri="{FF2B5EF4-FFF2-40B4-BE49-F238E27FC236}">
                <a16:creationId xmlns:a16="http://schemas.microsoft.com/office/drawing/2014/main" id="{9323B386-A3D7-4928-A097-25A94185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59" y="4314882"/>
            <a:ext cx="7498081" cy="40416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102000"/>
              </a:lnSpc>
              <a:buNone/>
              <a:defRPr sz="1300">
                <a:solidFill>
                  <a:srgbClr val="D7E3EF"/>
                </a:solidFill>
              </a:defRPr>
            </a:lvl1pPr>
          </a:lstStyle>
          <a:p xmlns:a="http://schemas.openxmlformats.org/drawingml/2006/main">
            <a:r>
              <a:t>Add procedure / execution / effect residuals, PNR localization, known + open-set error heads. Exit: unseen-error and false-alert gates pass.</a:t>
            </a:r>
          </a:p>
        </p:txBody>
      </p:sp>
      <p:sp>
        <p:nvSpPr>
          <p:cNvPr id="205" name="Shape 13">
            <a:extLst xmlns:a="http://schemas.openxmlformats.org/drawingml/2006/main">
              <a:ext uri="{FF2B5EF4-FFF2-40B4-BE49-F238E27FC236}">
                <a16:creationId xmlns:a16="http://schemas.microsoft.com/office/drawing/2014/main" id="{C84C061D-F3F0-41FB-B392-25573A32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65776"/>
            <a:ext cx="10515601" cy="1005841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B3050"/>
          </a:solidFill>
          <a:ln xmlns:a="http://schemas.openxmlformats.org/drawingml/2006/main" w="12700">
            <a:solidFill>
              <a:srgbClr val="2C466B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206" name="Shape 14">
            <a:extLst xmlns:a="http://schemas.openxmlformats.org/drawingml/2006/main">
              <a:ext uri="{FF2B5EF4-FFF2-40B4-BE49-F238E27FC236}">
                <a16:creationId xmlns:a16="http://schemas.microsoft.com/office/drawing/2014/main" id="{BA5D767A-A9C2-4933-87DE-FDE64FB5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266944"/>
            <a:ext cx="2286001" cy="60350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9B8CC4">
              <a:alpha val="88000"/>
            </a:srgbClr>
          </a:solidFill>
          <a:ln xmlns:a="http://schemas.openxmlformats.org/drawingml/2006/main" w="15875">
            <a:solidFill>
              <a:srgbClr val="9B8CC4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/>
        </p:txBody>
      </p:sp>
      <p:sp>
        <p:nvSpPr>
          <p:cNvPr id="207" name="Text 15">
            <a:extLst xmlns:a="http://schemas.openxmlformats.org/drawingml/2006/main">
              <a:ext uri="{FF2B5EF4-FFF2-40B4-BE49-F238E27FC236}">
                <a16:creationId xmlns:a16="http://schemas.microsoft.com/office/drawing/2014/main" id="{13A84D2F-40F4-4C92-9EFA-A4B1E977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428296"/>
            <a:ext cx="2194561" cy="304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>
            <a:spAutoFit/>
          </a:bodyPr>
          <a:lstStyle xmlns:a="http://schemas.openxmlformats.org/drawingml/2006/main">
            <a:lvl1pPr algn="ctr">
              <a:buNone/>
              <a:defRPr sz="14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r>
              <a:t>Weeks 10–12</a:t>
            </a:r>
          </a:p>
        </p:txBody>
      </p:sp>
      <p:sp>
        <p:nvSpPr>
          <p:cNvPr id="208" name="Text 16">
            <a:extLst xmlns:a="http://schemas.openxmlformats.org/drawingml/2006/main">
              <a:ext uri="{FF2B5EF4-FFF2-40B4-BE49-F238E27FC236}">
                <a16:creationId xmlns:a16="http://schemas.microsoft.com/office/drawing/2014/main" id="{AD5BFD3B-D794-4BC0-B35E-8EE1175D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59" y="5485314"/>
            <a:ext cx="7498081" cy="40416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lnSpc>
                <a:spcPct val="102000"/>
              </a:lnSpc>
              <a:buNone/>
              <a:defRPr sz="1300">
                <a:solidFill>
                  <a:srgbClr val="D7E3EF"/>
                </a:solidFill>
              </a:defRPr>
            </a:lvl1pPr>
          </a:lstStyle>
          <a:p xmlns:a="http://schemas.openxmlformats.org/drawingml/2006/main">
            <a:r>
              <a:t>Add future state, approved recovery search, triggered VLM and edge profiling. Exit: safe plan + calibrated pilot candidate.</a:t>
            </a:r>
          </a:p>
        </p:txBody>
      </p:sp>
    </p:spTree>
    <p:extLst>
      <p:ext uri="{BB962C8B-B14F-4D97-AF65-F5344CB8AC3E}">
        <p14:creationId xmlns:p14="http://schemas.microsoft.com/office/powerpoint/2010/main" val="107355427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EE759D8-A3F9-42F2-8C0C-D02033BF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049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t>Research foundation for the proposed architecture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7C0B5D6-2095-4AB1-9D39-E2080324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7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3606D"/>
                </a:solidFill>
                <a:latin typeface="Arial"/>
                <a:ea typeface="Arial"/>
                <a:cs typeface="Arial"/>
              </a:defRPr>
            </a:pPr>
            <a:r>
              <a:t>Primary sources span temporal segmentation, procedure graphs, mistake semantics, state change, anticipation and streaming VLMs.</a:t>
            </a:r>
          </a:p>
        </p:txBody>
      </p:sp>
      <p:sp>
        <p:nvSpPr>
          <p:cNvPr id="3" name="phase-1">
            <a:extLst xmlns:a="http://schemas.openxmlformats.org/drawingml/2006/main">
              <a:ext uri="{FF2B5EF4-FFF2-40B4-BE49-F238E27FC236}">
                <a16:creationId xmlns:a16="http://schemas.microsoft.com/office/drawing/2014/main" id="{3A662FB5-C17A-4B5F-9BDD-AE187D28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2647950" cy="4048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44D2774-D057-4ABD-B519-51F64F59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9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8CC7A2-1C35-4A79-AD87-0CF4C773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2266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3932"/>
                </a:solidFill>
                <a:latin typeface="Arial"/>
                <a:ea typeface="Arial"/>
                <a:cs typeface="Arial"/>
              </a:defRPr>
            </a:pPr>
            <a:r>
              <a:t>FOUNDATIONS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C278E1A-E2D2-4508-A3B8-3E58D725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22669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VideoMAE V2 — CVPR 2023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FACT — CVPR 2024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DiffAct — ICCV 2023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V-JEPA 2.1 — 2026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P-JEPA — 2026</a:t>
            </a:r>
          </a:p>
        </p:txBody>
      </p:sp>
      <p:sp>
        <p:nvSpPr>
          <p:cNvPr id="7" name="phase-2">
            <a:extLst xmlns:a="http://schemas.openxmlformats.org/drawingml/2006/main">
              <a:ext uri="{FF2B5EF4-FFF2-40B4-BE49-F238E27FC236}">
                <a16:creationId xmlns:a16="http://schemas.microsoft.com/office/drawing/2014/main" id="{369A5013-8270-4688-92D8-9B995D48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647950" cy="4048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7C43024-8C1E-48FB-BD73-1B307FD2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011DA00-4F9F-493D-8798-C012C310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266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PSR + STRUCTURE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0070E8E-B73A-4594-BC77-B87159A3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22669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IndustReal — WACV 2024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STORM-PSR — 2025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PREGO — CVPR 2024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Differentiable Task Graph — 2024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AMNAR — CVPR 2025</a:t>
            </a:r>
          </a:p>
        </p:txBody>
      </p:sp>
      <p:sp>
        <p:nvSpPr>
          <p:cNvPr id="11" name="phase-3">
            <a:extLst xmlns:a="http://schemas.openxmlformats.org/drawingml/2006/main">
              <a:ext uri="{FF2B5EF4-FFF2-40B4-BE49-F238E27FC236}">
                <a16:creationId xmlns:a16="http://schemas.microsoft.com/office/drawing/2014/main" id="{824808DF-39B2-4437-9F7C-92B6C2EF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2647950" cy="4048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4A6A5CC-D952-4102-87F0-7C218B22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5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C8BD74A-7FF4-4980-B5F5-486E2B01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2625"/>
            <a:ext cx="2266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8A54"/>
                </a:solidFill>
                <a:latin typeface="Arial"/>
                <a:ea typeface="Arial"/>
                <a:cs typeface="Arial"/>
              </a:defRPr>
            </a:pPr>
            <a:r>
              <a:t>MISTAKE + EFFECT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8E4E19E-2973-4886-9941-A49FAE75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22669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EgoPED — CVPR 2024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GTG2Vid — ICCV 2025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Action Effect Modeling — 2025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AXG-Reasoner — CVPR 2026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MATT / MisFormer — CVPR 2026</a:t>
            </a:r>
          </a:p>
        </p:txBody>
      </p:sp>
      <p:sp>
        <p:nvSpPr>
          <p:cNvPr id="15" name="phase-4">
            <a:extLst xmlns:a="http://schemas.openxmlformats.org/drawingml/2006/main">
              <a:ext uri="{FF2B5EF4-FFF2-40B4-BE49-F238E27FC236}">
                <a16:creationId xmlns:a16="http://schemas.microsoft.com/office/drawing/2014/main" id="{A566FD8B-7B2E-4ADC-904C-66377D4B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38300"/>
            <a:ext cx="2647950" cy="40481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A084428-8E50-44E3-9447-7DE8A1A1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3830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E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991D6BF-AB94-4A87-8FEA-A9A3B1FC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52625"/>
            <a:ext cx="2266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B4EFF"/>
                </a:solidFill>
                <a:latin typeface="Arial"/>
                <a:ea typeface="Arial"/>
                <a:cs typeface="Arial"/>
              </a:defRPr>
            </a:pPr>
            <a:r>
              <a:t>DATA + VLM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AC4660E-AEA8-4638-BCFC-B7BAD56B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95550"/>
            <a:ext cx="2266950" cy="2647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Assembly101 — CVPR 2022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CaptainCook4D — NeurIPS 2024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HoloAssist — ICCV 2023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ProVideLLM — ICCV 2025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820"/>
                </a:solidFill>
                <a:latin typeface="Arial"/>
                <a:ea typeface="Arial"/>
                <a:cs typeface="Arial"/>
              </a:rPr>
              <a:t>Qwen3-VL — 2025</a:t>
            </a:r>
          </a:p>
        </p:txBody>
      </p:sp>
      <p:sp>
        <p:nvSpPr>
          <p:cNvPr id="19" name="timing-band">
            <a:extLst xmlns:a="http://schemas.openxmlformats.org/drawingml/2006/main">
              <a:ext uri="{FF2B5EF4-FFF2-40B4-BE49-F238E27FC236}">
                <a16:creationId xmlns:a16="http://schemas.microsoft.com/office/drawing/2014/main" id="{39C4B37B-EBBF-4E98-ACF6-78B44A81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86450"/>
            <a:ext cx="11277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1D48FB0-742E-432B-AACA-D8CB839A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Full bibliography, links, implementation details and experiment matrix: docs/architecture_research_plan.md</a:t>
            </a:r>
          </a:p>
        </p:txBody>
      </p:sp>
      <p:cxnSp>
        <p:nvCxnSpPr>
          <p:cNvPr id="86" name="Straight Arrow Connector 43"/>
          <p:cNvCxnSpPr/>
          <p:nvPr/>
        </p:nvCxnSpPr>
        <p:spPr>
          <a:xfrm xmlns:a="http://schemas.openxmlformats.org/drawingml/2006/main">
            <a:off x="457200" y="6400800"/>
            <a:ext cx="112776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9DE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66045620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2026-07-13T22:53:59.1700000Z</dcterms:created>
  <dcterms:modified xsi:type="dcterms:W3CDTF">2026-07-13T22:53:59.1700000Z</dcterms:modified>
</coreProperties>
</file>